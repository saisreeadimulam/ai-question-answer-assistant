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372" r:id="rId7"/>
    <p:sldId id="373" r:id="rId8"/>
    <p:sldId id="374" r:id="rId9"/>
    <p:sldId id="396" r:id="rId10"/>
    <p:sldId id="375" r:id="rId11"/>
    <p:sldId id="376" r:id="rId12"/>
    <p:sldId id="377" r:id="rId13"/>
    <p:sldId id="397" r:id="rId14"/>
    <p:sldId id="378" r:id="rId15"/>
    <p:sldId id="398" r:id="rId16"/>
    <p:sldId id="379" r:id="rId17"/>
    <p:sldId id="399" r:id="rId18"/>
    <p:sldId id="380" r:id="rId19"/>
    <p:sldId id="400" r:id="rId20"/>
    <p:sldId id="381" r:id="rId21"/>
    <p:sldId id="382" r:id="rId22"/>
    <p:sldId id="401" r:id="rId23"/>
    <p:sldId id="383" r:id="rId24"/>
    <p:sldId id="402" r:id="rId25"/>
    <p:sldId id="384" r:id="rId26"/>
    <p:sldId id="406" r:id="rId27"/>
    <p:sldId id="407" r:id="rId28"/>
    <p:sldId id="408" r:id="rId29"/>
    <p:sldId id="385" r:id="rId30"/>
    <p:sldId id="403" r:id="rId31"/>
    <p:sldId id="386" r:id="rId32"/>
    <p:sldId id="404" r:id="rId33"/>
    <p:sldId id="387" r:id="rId34"/>
    <p:sldId id="405" r:id="rId35"/>
    <p:sldId id="388" r:id="rId36"/>
    <p:sldId id="409" r:id="rId37"/>
    <p:sldId id="389" r:id="rId38"/>
    <p:sldId id="390" r:id="rId39"/>
    <p:sldId id="410" r:id="rId40"/>
    <p:sldId id="391" r:id="rId41"/>
    <p:sldId id="411" r:id="rId42"/>
    <p:sldId id="392" r:id="rId43"/>
    <p:sldId id="412" r:id="rId44"/>
    <p:sldId id="393" r:id="rId45"/>
    <p:sldId id="413" r:id="rId46"/>
    <p:sldId id="394" r:id="rId47"/>
    <p:sldId id="414" r:id="rId48"/>
    <p:sldId id="395" r:id="rId49"/>
  </p:sldIdLst>
  <p:sldSz cx="9906000" cy="6858000" type="A4"/>
  <p:notesSz cx="9906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02" autoAdjust="0"/>
  </p:normalViewPr>
  <p:slideViewPr>
    <p:cSldViewPr>
      <p:cViewPr varScale="1">
        <p:scale>
          <a:sx n="68" d="100"/>
          <a:sy n="68" d="100"/>
        </p:scale>
        <p:origin x="1632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1443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926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11813" y="0"/>
            <a:ext cx="42926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E49C3F-2F14-48D8-9FD3-5A25F8CE9C28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0600" y="3300413"/>
            <a:ext cx="79248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42926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11813" y="6513513"/>
            <a:ext cx="42926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7C2972-1FC8-4574-A16B-2B405040C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415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42950" y="2125980"/>
            <a:ext cx="84201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85900" y="3840480"/>
            <a:ext cx="69342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9530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0159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902952" cy="142535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350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7184" y="330199"/>
            <a:ext cx="7424089" cy="481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1716" y="1167764"/>
            <a:ext cx="8858885" cy="36360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13232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4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3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4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3.png"/><Relationship Id="rId7" Type="http://schemas.openxmlformats.org/officeDocument/2006/relationships/image" Target="../media/image41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9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1.png"/><Relationship Id="rId5" Type="http://schemas.openxmlformats.org/officeDocument/2006/relationships/image" Target="../media/image48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2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1.png"/><Relationship Id="rId5" Type="http://schemas.openxmlformats.org/officeDocument/2006/relationships/image" Target="../media/image51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3.png"/><Relationship Id="rId7" Type="http://schemas.openxmlformats.org/officeDocument/2006/relationships/image" Target="../media/image41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9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1.png"/><Relationship Id="rId5" Type="http://schemas.openxmlformats.org/officeDocument/2006/relationships/image" Target="../media/image58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.png"/><Relationship Id="rId7" Type="http://schemas.openxmlformats.org/officeDocument/2006/relationships/image" Target="../media/image63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4.png"/><Relationship Id="rId9" Type="http://schemas.openxmlformats.org/officeDocument/2006/relationships/image" Target="../media/image6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.png"/><Relationship Id="rId7" Type="http://schemas.openxmlformats.org/officeDocument/2006/relationships/image" Target="../media/image68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4.png"/><Relationship Id="rId9" Type="http://schemas.openxmlformats.org/officeDocument/2006/relationships/image" Target="../media/image6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3.png"/><Relationship Id="rId7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54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3.png"/><Relationship Id="rId7" Type="http://schemas.openxmlformats.org/officeDocument/2006/relationships/image" Target="../media/image75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44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3.png"/><Relationship Id="rId7" Type="http://schemas.openxmlformats.org/officeDocument/2006/relationships/image" Target="../media/image80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5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3.png"/><Relationship Id="rId7" Type="http://schemas.openxmlformats.org/officeDocument/2006/relationships/image" Target="../media/image88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87.png"/><Relationship Id="rId10" Type="http://schemas.openxmlformats.org/officeDocument/2006/relationships/image" Target="../media/image90.png"/><Relationship Id="rId4" Type="http://schemas.openxmlformats.org/officeDocument/2006/relationships/image" Target="../media/image4.png"/><Relationship Id="rId9" Type="http://schemas.openxmlformats.org/officeDocument/2006/relationships/image" Target="../media/image89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3.png"/><Relationship Id="rId7" Type="http://schemas.openxmlformats.org/officeDocument/2006/relationships/image" Target="../media/image94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4.png"/><Relationship Id="rId9" Type="http://schemas.openxmlformats.org/officeDocument/2006/relationships/image" Target="../media/image95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3.png"/><Relationship Id="rId7" Type="http://schemas.openxmlformats.org/officeDocument/2006/relationships/image" Target="../media/image99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4.png"/><Relationship Id="rId9" Type="http://schemas.openxmlformats.org/officeDocument/2006/relationships/image" Target="../media/image100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image" Target="../media/image110.png"/><Relationship Id="rId18" Type="http://schemas.openxmlformats.org/officeDocument/2006/relationships/image" Target="../media/image115.png"/><Relationship Id="rId3" Type="http://schemas.openxmlformats.org/officeDocument/2006/relationships/image" Target="../media/image3.png"/><Relationship Id="rId21" Type="http://schemas.openxmlformats.org/officeDocument/2006/relationships/image" Target="../media/image118.png"/><Relationship Id="rId7" Type="http://schemas.openxmlformats.org/officeDocument/2006/relationships/image" Target="../media/image104.png"/><Relationship Id="rId12" Type="http://schemas.openxmlformats.org/officeDocument/2006/relationships/image" Target="../media/image109.png"/><Relationship Id="rId17" Type="http://schemas.openxmlformats.org/officeDocument/2006/relationships/image" Target="../media/image114.png"/><Relationship Id="rId2" Type="http://schemas.openxmlformats.org/officeDocument/2006/relationships/image" Target="../media/image101.png"/><Relationship Id="rId16" Type="http://schemas.openxmlformats.org/officeDocument/2006/relationships/image" Target="../media/image113.png"/><Relationship Id="rId20" Type="http://schemas.openxmlformats.org/officeDocument/2006/relationships/image" Target="../media/image1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3.png"/><Relationship Id="rId11" Type="http://schemas.openxmlformats.org/officeDocument/2006/relationships/image" Target="../media/image108.png"/><Relationship Id="rId5" Type="http://schemas.openxmlformats.org/officeDocument/2006/relationships/image" Target="../media/image102.png"/><Relationship Id="rId15" Type="http://schemas.openxmlformats.org/officeDocument/2006/relationships/image" Target="../media/image112.png"/><Relationship Id="rId23" Type="http://schemas.openxmlformats.org/officeDocument/2006/relationships/image" Target="../media/image84.png"/><Relationship Id="rId10" Type="http://schemas.openxmlformats.org/officeDocument/2006/relationships/image" Target="../media/image107.png"/><Relationship Id="rId19" Type="http://schemas.openxmlformats.org/officeDocument/2006/relationships/image" Target="../media/image116.png"/><Relationship Id="rId4" Type="http://schemas.openxmlformats.org/officeDocument/2006/relationships/image" Target="../media/image4.png"/><Relationship Id="rId9" Type="http://schemas.openxmlformats.org/officeDocument/2006/relationships/image" Target="../media/image106.png"/><Relationship Id="rId14" Type="http://schemas.openxmlformats.org/officeDocument/2006/relationships/image" Target="../media/image111.png"/><Relationship Id="rId22" Type="http://schemas.openxmlformats.org/officeDocument/2006/relationships/image" Target="../media/image119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3" Type="http://schemas.openxmlformats.org/officeDocument/2006/relationships/image" Target="../media/image3.png"/><Relationship Id="rId7" Type="http://schemas.openxmlformats.org/officeDocument/2006/relationships/image" Target="../media/image123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2.png"/><Relationship Id="rId5" Type="http://schemas.openxmlformats.org/officeDocument/2006/relationships/image" Target="../media/image121.png"/><Relationship Id="rId10" Type="http://schemas.openxmlformats.org/officeDocument/2006/relationships/image" Target="../media/image126.png"/><Relationship Id="rId4" Type="http://schemas.openxmlformats.org/officeDocument/2006/relationships/image" Target="../media/image4.png"/><Relationship Id="rId9" Type="http://schemas.openxmlformats.org/officeDocument/2006/relationships/image" Target="../media/image125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0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9.png"/><Relationship Id="rId5" Type="http://schemas.openxmlformats.org/officeDocument/2006/relationships/image" Target="../media/image128.png"/><Relationship Id="rId4" Type="http://schemas.openxmlformats.org/officeDocument/2006/relationships/image" Target="../media/image4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3.png"/><Relationship Id="rId7" Type="http://schemas.openxmlformats.org/officeDocument/2006/relationships/image" Target="../media/image134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3.png"/><Relationship Id="rId5" Type="http://schemas.openxmlformats.org/officeDocument/2006/relationships/image" Target="../media/image132.png"/><Relationship Id="rId4" Type="http://schemas.openxmlformats.org/officeDocument/2006/relationships/image" Target="../media/image4.png"/><Relationship Id="rId9" Type="http://schemas.openxmlformats.org/officeDocument/2006/relationships/image" Target="../media/image136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9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8.png"/><Relationship Id="rId5" Type="http://schemas.openxmlformats.org/officeDocument/2006/relationships/image" Target="../media/image135.png"/><Relationship Id="rId4" Type="http://schemas.openxmlformats.org/officeDocument/2006/relationships/image" Target="../media/image4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3" Type="http://schemas.openxmlformats.org/officeDocument/2006/relationships/image" Target="../media/image3.png"/><Relationship Id="rId7" Type="http://schemas.openxmlformats.org/officeDocument/2006/relationships/image" Target="../media/image135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2.png"/><Relationship Id="rId5" Type="http://schemas.openxmlformats.org/officeDocument/2006/relationships/image" Target="../media/image141.png"/><Relationship Id="rId4" Type="http://schemas.openxmlformats.org/officeDocument/2006/relationships/image" Target="../media/image4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47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6.png"/><Relationship Id="rId5" Type="http://schemas.openxmlformats.org/officeDocument/2006/relationships/image" Target="../media/image14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350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3174" y="6525807"/>
            <a:ext cx="32669" cy="8301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531" y="6510528"/>
            <a:ext cx="2044445" cy="16078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7892" y="6533388"/>
            <a:ext cx="1677161" cy="104394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2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002E8E"/>
                </a:solidFill>
                <a:latin typeface="Arial"/>
                <a:cs typeface="Arial"/>
              </a:rPr>
              <a:t>Revision</a:t>
            </a:r>
            <a:r>
              <a:rPr sz="2400" b="1" spc="-95" dirty="0">
                <a:solidFill>
                  <a:srgbClr val="002E8E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2E8E"/>
                </a:solidFill>
                <a:latin typeface="Arial"/>
                <a:cs typeface="Arial"/>
              </a:rPr>
              <a:t>History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16452" y="630936"/>
            <a:ext cx="5833110" cy="0"/>
          </a:xfrm>
          <a:custGeom>
            <a:avLst/>
            <a:gdLst/>
            <a:ahLst/>
            <a:cxnLst/>
            <a:rect l="l" t="t" r="r" b="b"/>
            <a:pathLst>
              <a:path w="5833109">
                <a:moveTo>
                  <a:pt x="0" y="0"/>
                </a:moveTo>
                <a:lnTo>
                  <a:pt x="5832602" y="0"/>
                </a:lnTo>
              </a:path>
            </a:pathLst>
          </a:custGeom>
          <a:ln w="12700">
            <a:solidFill>
              <a:srgbClr val="1328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59816" y="1167764"/>
          <a:ext cx="8787127" cy="5172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5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11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5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42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259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137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13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050" spc="-10" dirty="0">
                          <a:latin typeface="Trebuchet MS"/>
                          <a:cs typeface="Trebuchet MS"/>
                        </a:rPr>
                        <a:t>Version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5080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050" spc="-20" dirty="0">
                          <a:latin typeface="Trebuchet MS"/>
                          <a:cs typeface="Trebuchet MS"/>
                        </a:rPr>
                        <a:t>Unit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5080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050" spc="-20" dirty="0">
                          <a:latin typeface="Trebuchet MS"/>
                          <a:cs typeface="Trebuchet MS"/>
                        </a:rPr>
                        <a:t>Unit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5080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050" dirty="0">
                          <a:latin typeface="Trebuchet MS"/>
                          <a:cs typeface="Trebuchet MS"/>
                        </a:rPr>
                        <a:t>Slide</a:t>
                      </a:r>
                      <a:r>
                        <a:rPr sz="1050" spc="-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5" dirty="0">
                          <a:latin typeface="Trebuchet MS"/>
                          <a:cs typeface="Trebuchet MS"/>
                        </a:rPr>
                        <a:t>No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5080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050" dirty="0">
                          <a:latin typeface="Trebuchet MS"/>
                          <a:cs typeface="Trebuchet MS"/>
                        </a:rPr>
                        <a:t>Change</a:t>
                      </a:r>
                      <a:r>
                        <a:rPr sz="105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0" dirty="0">
                          <a:latin typeface="Trebuchet MS"/>
                          <a:cs typeface="Trebuchet MS"/>
                        </a:rPr>
                        <a:t>Type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5080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41084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050" spc="-10" dirty="0">
                          <a:latin typeface="Trebuchet MS"/>
                          <a:cs typeface="Trebuchet MS"/>
                        </a:rPr>
                        <a:t>Description</a:t>
                      </a:r>
                      <a:r>
                        <a:rPr sz="105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105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Change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5080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2829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050" spc="-10" dirty="0">
                          <a:latin typeface="Trebuchet MS"/>
                          <a:cs typeface="Trebuchet MS"/>
                        </a:rPr>
                        <a:t>Remark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5080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spc="-20" dirty="0">
                          <a:latin typeface="Trebuchet MS"/>
                          <a:cs typeface="Trebuchet MS"/>
                        </a:rPr>
                        <a:t>V3.0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42545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8318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50" spc="-10" dirty="0">
                          <a:latin typeface="Trebuchet MS"/>
                          <a:cs typeface="Trebuchet MS"/>
                        </a:rPr>
                        <a:t>Unit</a:t>
                      </a:r>
                      <a:r>
                        <a:rPr sz="105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25" dirty="0">
                          <a:latin typeface="Trebuchet MS"/>
                          <a:cs typeface="Trebuchet MS"/>
                        </a:rPr>
                        <a:t>1.</a:t>
                      </a:r>
                      <a:r>
                        <a:rPr sz="105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NumPy</a:t>
                      </a:r>
                      <a:r>
                        <a:rPr sz="105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Array </a:t>
                      </a:r>
                      <a:r>
                        <a:rPr sz="1050" spc="-20" dirty="0">
                          <a:latin typeface="Trebuchet MS"/>
                          <a:cs typeface="Trebuchet MS"/>
                        </a:rPr>
                        <a:t>Data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Structure</a:t>
                      </a:r>
                      <a:r>
                        <a:rPr sz="105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sz="105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Optimal</a:t>
                      </a:r>
                      <a:r>
                        <a:rPr sz="105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5" dirty="0">
                          <a:latin typeface="Trebuchet MS"/>
                          <a:cs typeface="Trebuchet MS"/>
                        </a:rPr>
                        <a:t>Co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mputational</a:t>
                      </a:r>
                      <a:r>
                        <a:rPr sz="105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Performance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050" spc="-105" dirty="0">
                          <a:latin typeface="Trebuchet MS"/>
                          <a:cs typeface="Trebuchet MS"/>
                        </a:rPr>
                        <a:t>1.2,</a:t>
                      </a:r>
                      <a:r>
                        <a:rPr sz="105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0" dirty="0">
                          <a:latin typeface="Trebuchet MS"/>
                          <a:cs typeface="Trebuchet MS"/>
                        </a:rPr>
                        <a:t>1.3,</a:t>
                      </a:r>
                      <a:r>
                        <a:rPr sz="105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5" dirty="0">
                          <a:latin typeface="Trebuchet MS"/>
                          <a:cs typeface="Trebuchet MS"/>
                        </a:rPr>
                        <a:t>14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4254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1050" spc="-85" dirty="0">
                          <a:latin typeface="Trebuchet MS"/>
                          <a:cs typeface="Trebuchet MS"/>
                        </a:rPr>
                        <a:t>114,</a:t>
                      </a:r>
                      <a:r>
                        <a:rPr sz="105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0" dirty="0">
                          <a:latin typeface="Trebuchet MS"/>
                          <a:cs typeface="Trebuchet MS"/>
                        </a:rPr>
                        <a:t>115,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050" spc="-60" dirty="0">
                          <a:latin typeface="Trebuchet MS"/>
                          <a:cs typeface="Trebuchet MS"/>
                        </a:rPr>
                        <a:t>139,</a:t>
                      </a:r>
                      <a:r>
                        <a:rPr sz="105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0" dirty="0">
                          <a:latin typeface="Trebuchet MS"/>
                          <a:cs typeface="Trebuchet MS"/>
                        </a:rPr>
                        <a:t>150,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11620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Trebuchet MS"/>
                          <a:cs typeface="Trebuchet MS"/>
                        </a:rPr>
                        <a:t>Revised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4254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50" spc="-25" dirty="0">
                          <a:latin typeface="Trebuchet MS"/>
                          <a:cs typeface="Trebuchet MS"/>
                        </a:rPr>
                        <a:t>Corrected</a:t>
                      </a:r>
                      <a:r>
                        <a:rPr sz="105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sz="105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parts</a:t>
                      </a:r>
                      <a:r>
                        <a:rPr sz="105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105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sz="105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practi </a:t>
                      </a:r>
                      <a:r>
                        <a:rPr sz="1050" spc="-30" dirty="0">
                          <a:latin typeface="Trebuchet MS"/>
                          <a:cs typeface="Trebuchet MS"/>
                        </a:rPr>
                        <a:t>ce</a:t>
                      </a:r>
                      <a:r>
                        <a:rPr sz="105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problems</a:t>
                      </a:r>
                      <a:r>
                        <a:rPr sz="105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that</a:t>
                      </a:r>
                      <a:r>
                        <a:rPr sz="105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0" dirty="0">
                          <a:latin typeface="Trebuchet MS"/>
                          <a:cs typeface="Trebuchet MS"/>
                        </a:rPr>
                        <a:t>were</a:t>
                      </a:r>
                      <a:r>
                        <a:rPr sz="105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not</a:t>
                      </a:r>
                      <a:r>
                        <a:rPr sz="105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0" dirty="0">
                          <a:latin typeface="Trebuchet MS"/>
                          <a:cs typeface="Trebuchet MS"/>
                        </a:rPr>
                        <a:t>conne </a:t>
                      </a:r>
                      <a:r>
                        <a:rPr sz="1050" spc="-30" dirty="0">
                          <a:latin typeface="Trebuchet MS"/>
                          <a:cs typeface="Trebuchet MS"/>
                        </a:rPr>
                        <a:t>cted</a:t>
                      </a:r>
                      <a:r>
                        <a:rPr sz="1050" spc="-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sz="105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sz="105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textbook.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86995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1050" spc="-10" dirty="0">
                          <a:latin typeface="Trebuchet MS"/>
                          <a:cs typeface="Trebuchet MS"/>
                        </a:rPr>
                        <a:t>Unit</a:t>
                      </a:r>
                      <a:r>
                        <a:rPr sz="105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105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Optimal</a:t>
                      </a:r>
                      <a:r>
                        <a:rPr sz="105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Data</a:t>
                      </a:r>
                      <a:r>
                        <a:rPr sz="105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0" dirty="0">
                          <a:latin typeface="Trebuchet MS"/>
                          <a:cs typeface="Trebuchet MS"/>
                        </a:rPr>
                        <a:t>Explo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ration</a:t>
                      </a:r>
                      <a:r>
                        <a:rPr sz="105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Through</a:t>
                      </a:r>
                      <a:r>
                        <a:rPr sz="105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Pandas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11620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50" spc="-105" dirty="0">
                          <a:latin typeface="Trebuchet MS"/>
                          <a:cs typeface="Trebuchet MS"/>
                        </a:rPr>
                        <a:t>2.1,</a:t>
                      </a:r>
                      <a:r>
                        <a:rPr sz="105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85" dirty="0">
                          <a:latin typeface="Trebuchet MS"/>
                          <a:cs typeface="Trebuchet MS"/>
                        </a:rPr>
                        <a:t>2.2,</a:t>
                      </a:r>
                      <a:r>
                        <a:rPr sz="105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80" dirty="0">
                          <a:latin typeface="Trebuchet MS"/>
                          <a:cs typeface="Trebuchet MS"/>
                        </a:rPr>
                        <a:t>2.3,</a:t>
                      </a:r>
                      <a:r>
                        <a:rPr sz="105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5" dirty="0">
                          <a:latin typeface="Trebuchet MS"/>
                          <a:cs typeface="Trebuchet MS"/>
                        </a:rPr>
                        <a:t>2.4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4254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50" spc="-30" dirty="0">
                          <a:latin typeface="Trebuchet MS"/>
                          <a:cs typeface="Trebuchet MS"/>
                        </a:rPr>
                        <a:t>283,</a:t>
                      </a:r>
                      <a:r>
                        <a:rPr sz="105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0" dirty="0">
                          <a:latin typeface="Trebuchet MS"/>
                          <a:cs typeface="Trebuchet MS"/>
                        </a:rPr>
                        <a:t>284,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050" spc="-60" dirty="0">
                          <a:latin typeface="Trebuchet MS"/>
                          <a:cs typeface="Trebuchet MS"/>
                        </a:rPr>
                        <a:t>316,</a:t>
                      </a:r>
                      <a:r>
                        <a:rPr sz="105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0" dirty="0">
                          <a:latin typeface="Trebuchet MS"/>
                          <a:cs typeface="Trebuchet MS"/>
                        </a:rPr>
                        <a:t>322,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050" spc="-25" dirty="0">
                          <a:latin typeface="Trebuchet MS"/>
                          <a:cs typeface="Trebuchet MS"/>
                        </a:rPr>
                        <a:t>340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50" b="1" spc="-10" dirty="0">
                          <a:latin typeface="Trebuchet MS"/>
                          <a:cs typeface="Trebuchet MS"/>
                        </a:rPr>
                        <a:t>Revised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4254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1365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50" spc="-20" dirty="0">
                          <a:latin typeface="Trebuchet MS"/>
                          <a:cs typeface="Trebuchet MS"/>
                        </a:rPr>
                        <a:t>Corrected</a:t>
                      </a:r>
                      <a:r>
                        <a:rPr sz="105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sz="105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parts</a:t>
                      </a:r>
                      <a:r>
                        <a:rPr sz="105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105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5" dirty="0">
                          <a:latin typeface="Trebuchet MS"/>
                          <a:cs typeface="Trebuchet MS"/>
                        </a:rPr>
                        <a:t>the </a:t>
                      </a:r>
                      <a:r>
                        <a:rPr sz="1050" spc="-30" dirty="0">
                          <a:latin typeface="Trebuchet MS"/>
                          <a:cs typeface="Trebuchet MS"/>
                        </a:rPr>
                        <a:t>practice</a:t>
                      </a:r>
                      <a:r>
                        <a:rPr sz="105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problems</a:t>
                      </a:r>
                      <a:r>
                        <a:rPr sz="105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that</a:t>
                      </a:r>
                      <a:r>
                        <a:rPr sz="105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0" dirty="0">
                          <a:latin typeface="Trebuchet MS"/>
                          <a:cs typeface="Trebuchet MS"/>
                        </a:rPr>
                        <a:t>were</a:t>
                      </a:r>
                      <a:r>
                        <a:rPr sz="105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5" dirty="0">
                          <a:latin typeface="Trebuchet MS"/>
                          <a:cs typeface="Trebuchet MS"/>
                        </a:rPr>
                        <a:t>not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connected</a:t>
                      </a:r>
                      <a:r>
                        <a:rPr sz="1050" spc="-1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sz="105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sz="105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textbook.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07314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1050" dirty="0">
                          <a:latin typeface="Trebuchet MS"/>
                          <a:cs typeface="Trebuchet MS"/>
                        </a:rPr>
                        <a:t>Unit4</a:t>
                      </a:r>
                      <a:r>
                        <a:rPr sz="105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Data</a:t>
                      </a:r>
                      <a:r>
                        <a:rPr sz="105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Visualization</a:t>
                      </a:r>
                      <a:r>
                        <a:rPr sz="105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50" dirty="0">
                          <a:latin typeface="Trebuchet MS"/>
                          <a:cs typeface="Trebuchet MS"/>
                        </a:rPr>
                        <a:t>f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or</a:t>
                      </a:r>
                      <a:r>
                        <a:rPr sz="105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Various</a:t>
                      </a:r>
                      <a:r>
                        <a:rPr sz="105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Data</a:t>
                      </a:r>
                      <a:r>
                        <a:rPr sz="105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Scales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11620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50" spc="-60" dirty="0">
                          <a:latin typeface="Trebuchet MS"/>
                          <a:cs typeface="Trebuchet MS"/>
                        </a:rPr>
                        <a:t>4.4,</a:t>
                      </a:r>
                      <a:r>
                        <a:rPr sz="105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5" dirty="0">
                          <a:latin typeface="Trebuchet MS"/>
                          <a:cs typeface="Trebuchet MS"/>
                        </a:rPr>
                        <a:t>4.5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4254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1050" spc="-70" dirty="0">
                          <a:latin typeface="Trebuchet MS"/>
                          <a:cs typeface="Trebuchet MS"/>
                        </a:rPr>
                        <a:t>471, </a:t>
                      </a:r>
                      <a:r>
                        <a:rPr sz="1050" spc="-20" dirty="0">
                          <a:latin typeface="Trebuchet MS"/>
                          <a:cs typeface="Trebuchet MS"/>
                        </a:rPr>
                        <a:t>472,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050" spc="-25" dirty="0">
                          <a:latin typeface="Trebuchet MS"/>
                          <a:cs typeface="Trebuchet MS"/>
                        </a:rPr>
                        <a:t>520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11620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50" b="1" spc="-10" dirty="0">
                          <a:latin typeface="Trebuchet MS"/>
                          <a:cs typeface="Trebuchet MS"/>
                        </a:rPr>
                        <a:t>Revised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4254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1365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50" spc="-25" dirty="0">
                          <a:latin typeface="Trebuchet MS"/>
                          <a:cs typeface="Trebuchet MS"/>
                        </a:rPr>
                        <a:t>Corrected</a:t>
                      </a:r>
                      <a:r>
                        <a:rPr sz="105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sz="105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parts</a:t>
                      </a:r>
                      <a:r>
                        <a:rPr sz="105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105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5" dirty="0">
                          <a:latin typeface="Trebuchet MS"/>
                          <a:cs typeface="Trebuchet MS"/>
                        </a:rPr>
                        <a:t>the </a:t>
                      </a:r>
                      <a:r>
                        <a:rPr sz="1050" spc="-30" dirty="0">
                          <a:latin typeface="Trebuchet MS"/>
                          <a:cs typeface="Trebuchet MS"/>
                        </a:rPr>
                        <a:t>practice</a:t>
                      </a:r>
                      <a:r>
                        <a:rPr sz="105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problems</a:t>
                      </a:r>
                      <a:r>
                        <a:rPr sz="105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that</a:t>
                      </a:r>
                      <a:r>
                        <a:rPr sz="105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0" dirty="0">
                          <a:latin typeface="Trebuchet MS"/>
                          <a:cs typeface="Trebuchet MS"/>
                        </a:rPr>
                        <a:t>were</a:t>
                      </a:r>
                      <a:r>
                        <a:rPr sz="105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5" dirty="0">
                          <a:latin typeface="Trebuchet MS"/>
                          <a:cs typeface="Trebuchet MS"/>
                        </a:rPr>
                        <a:t>not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connected</a:t>
                      </a:r>
                      <a:r>
                        <a:rPr sz="1050" spc="-1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sz="105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sz="105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textbook.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39179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50" spc="-10" dirty="0">
                          <a:latin typeface="Trebuchet MS"/>
                          <a:cs typeface="Trebuchet MS"/>
                        </a:rPr>
                        <a:t>Unit</a:t>
                      </a:r>
                      <a:r>
                        <a:rPr sz="105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105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Optimal</a:t>
                      </a:r>
                      <a:r>
                        <a:rPr sz="1050" spc="-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0" dirty="0">
                          <a:latin typeface="Trebuchet MS"/>
                          <a:cs typeface="Trebuchet MS"/>
                        </a:rPr>
                        <a:t>Data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Exploration</a:t>
                      </a:r>
                      <a:r>
                        <a:rPr sz="105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Through Pandas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50" spc="-85" dirty="0">
                          <a:latin typeface="Trebuchet MS"/>
                          <a:cs typeface="Trebuchet MS"/>
                        </a:rPr>
                        <a:t>2.2,</a:t>
                      </a:r>
                      <a:r>
                        <a:rPr sz="105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5" dirty="0">
                          <a:latin typeface="Trebuchet MS"/>
                          <a:cs typeface="Trebuchet MS"/>
                        </a:rPr>
                        <a:t>2.3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4254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1050" spc="-30" dirty="0">
                          <a:latin typeface="Trebuchet MS"/>
                          <a:cs typeface="Trebuchet MS"/>
                        </a:rPr>
                        <a:t>283,</a:t>
                      </a:r>
                      <a:r>
                        <a:rPr sz="105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0" dirty="0">
                          <a:latin typeface="Trebuchet MS"/>
                          <a:cs typeface="Trebuchet MS"/>
                        </a:rPr>
                        <a:t>284,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050" spc="-60" dirty="0">
                          <a:latin typeface="Trebuchet MS"/>
                          <a:cs typeface="Trebuchet MS"/>
                        </a:rPr>
                        <a:t>316,</a:t>
                      </a:r>
                      <a:r>
                        <a:rPr sz="105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5" dirty="0">
                          <a:latin typeface="Trebuchet MS"/>
                          <a:cs typeface="Trebuchet MS"/>
                        </a:rPr>
                        <a:t>322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11620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50" b="1" spc="-10" dirty="0">
                          <a:latin typeface="Trebuchet MS"/>
                          <a:cs typeface="Trebuchet MS"/>
                        </a:rPr>
                        <a:t>Revised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4254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142875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1050" dirty="0">
                          <a:latin typeface="Trebuchet MS"/>
                          <a:cs typeface="Trebuchet MS"/>
                        </a:rPr>
                        <a:t>Modify</a:t>
                      </a:r>
                      <a:r>
                        <a:rPr sz="105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5" dirty="0">
                          <a:latin typeface="Trebuchet MS"/>
                          <a:cs typeface="Trebuchet MS"/>
                        </a:rPr>
                        <a:t>file</a:t>
                      </a:r>
                      <a:r>
                        <a:rPr sz="105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names</a:t>
                      </a:r>
                      <a:r>
                        <a:rPr sz="105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included</a:t>
                      </a:r>
                      <a:r>
                        <a:rPr sz="105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sz="105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5" dirty="0">
                          <a:latin typeface="Trebuchet MS"/>
                          <a:cs typeface="Trebuchet MS"/>
                        </a:rPr>
                        <a:t>pr </a:t>
                      </a:r>
                      <a:r>
                        <a:rPr sz="1050" spc="-35" dirty="0">
                          <a:latin typeface="Trebuchet MS"/>
                          <a:cs typeface="Trebuchet MS"/>
                        </a:rPr>
                        <a:t>actice</a:t>
                      </a:r>
                      <a:r>
                        <a:rPr sz="105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description</a:t>
                      </a:r>
                      <a:r>
                        <a:rPr sz="105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0" dirty="0">
                          <a:latin typeface="Trebuchet MS"/>
                          <a:cs typeface="Trebuchet MS"/>
                        </a:rPr>
                        <a:t>notes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11620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50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91440" marR="118745">
                        <a:lnSpc>
                          <a:spcPct val="100000"/>
                        </a:lnSpc>
                      </a:pPr>
                      <a:r>
                        <a:rPr sz="1050" spc="-10" dirty="0">
                          <a:latin typeface="Trebuchet MS"/>
                          <a:cs typeface="Trebuchet MS"/>
                        </a:rPr>
                        <a:t>Unit</a:t>
                      </a:r>
                      <a:r>
                        <a:rPr sz="105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105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Pandas</a:t>
                      </a:r>
                      <a:r>
                        <a:rPr sz="105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0" dirty="0">
                          <a:latin typeface="Trebuchet MS"/>
                          <a:cs typeface="Trebuchet MS"/>
                        </a:rPr>
                        <a:t>Data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Preprocessing</a:t>
                      </a:r>
                      <a:r>
                        <a:rPr sz="105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5" dirty="0">
                          <a:latin typeface="Trebuchet MS"/>
                          <a:cs typeface="Trebuchet MS"/>
                        </a:rPr>
                        <a:t>for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Optimal</a:t>
                      </a:r>
                      <a:r>
                        <a:rPr sz="105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Model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 Execution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123189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050" spc="-25" dirty="0">
                          <a:latin typeface="Trebuchet MS"/>
                          <a:cs typeface="Trebuchet MS"/>
                        </a:rPr>
                        <a:t>3.3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050" spc="-35" dirty="0">
                          <a:latin typeface="Trebuchet MS"/>
                          <a:cs typeface="Trebuchet MS"/>
                        </a:rPr>
                        <a:t>356,</a:t>
                      </a:r>
                      <a:r>
                        <a:rPr sz="105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0" dirty="0">
                          <a:latin typeface="Trebuchet MS"/>
                          <a:cs typeface="Trebuchet MS"/>
                        </a:rPr>
                        <a:t>364,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050" spc="-10" dirty="0">
                          <a:latin typeface="Trebuchet MS"/>
                          <a:cs typeface="Trebuchet MS"/>
                        </a:rPr>
                        <a:t>360,</a:t>
                      </a:r>
                      <a:r>
                        <a:rPr sz="105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0" dirty="0">
                          <a:latin typeface="Trebuchet MS"/>
                          <a:cs typeface="Trebuchet MS"/>
                        </a:rPr>
                        <a:t>361,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050" spc="-25" dirty="0">
                          <a:latin typeface="Trebuchet MS"/>
                          <a:cs typeface="Trebuchet MS"/>
                        </a:rPr>
                        <a:t>363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123189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Trebuchet MS"/>
                          <a:cs typeface="Trebuchet MS"/>
                        </a:rPr>
                        <a:t>Revised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863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050" dirty="0">
                          <a:latin typeface="Trebuchet MS"/>
                          <a:cs typeface="Trebuchet MS"/>
                        </a:rPr>
                        <a:t>Modify</a:t>
                      </a:r>
                      <a:r>
                        <a:rPr sz="105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variable</a:t>
                      </a:r>
                      <a:r>
                        <a:rPr sz="105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names</a:t>
                      </a:r>
                      <a:r>
                        <a:rPr sz="105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105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5" dirty="0">
                          <a:latin typeface="Trebuchet MS"/>
                          <a:cs typeface="Trebuchet MS"/>
                        </a:rPr>
                        <a:t>num </a:t>
                      </a:r>
                      <a:r>
                        <a:rPr sz="1050" spc="-20" dirty="0">
                          <a:latin typeface="Trebuchet MS"/>
                          <a:cs typeface="Trebuchet MS"/>
                        </a:rPr>
                        <a:t>ber</a:t>
                      </a:r>
                      <a:r>
                        <a:rPr sz="105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105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0" dirty="0">
                          <a:latin typeface="Trebuchet MS"/>
                          <a:cs typeface="Trebuchet MS"/>
                        </a:rPr>
                        <a:t>data</a:t>
                      </a:r>
                      <a:r>
                        <a:rPr sz="105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included</a:t>
                      </a:r>
                      <a:r>
                        <a:rPr sz="105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sz="105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notes(356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050" spc="-155" dirty="0">
                          <a:latin typeface="Trebuchet MS"/>
                          <a:cs typeface="Trebuchet MS"/>
                        </a:rPr>
                        <a:t>,</a:t>
                      </a:r>
                      <a:r>
                        <a:rPr sz="105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360,</a:t>
                      </a:r>
                      <a:r>
                        <a:rPr sz="105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361).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050" dirty="0">
                          <a:latin typeface="Trebuchet MS"/>
                          <a:cs typeface="Trebuchet MS"/>
                        </a:rPr>
                        <a:t>Move</a:t>
                      </a:r>
                      <a:r>
                        <a:rPr sz="105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sz="1050" spc="-30" dirty="0">
                          <a:latin typeface="Trebuchet MS"/>
                          <a:cs typeface="Trebuchet MS"/>
                        </a:rPr>
                        <a:t> practice</a:t>
                      </a:r>
                      <a:r>
                        <a:rPr sz="105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page(ex_0109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  <a:p>
                      <a:pPr marL="92075" marR="100965">
                        <a:lnSpc>
                          <a:spcPct val="100000"/>
                        </a:lnSpc>
                      </a:pPr>
                      <a:r>
                        <a:rPr sz="1050" spc="-60" dirty="0">
                          <a:latin typeface="Trebuchet MS"/>
                          <a:cs typeface="Trebuchet MS"/>
                        </a:rPr>
                        <a:t>)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sz="105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another</a:t>
                      </a:r>
                      <a:r>
                        <a:rPr sz="105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location</a:t>
                      </a:r>
                      <a:r>
                        <a:rPr sz="105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105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Edit</a:t>
                      </a:r>
                      <a:r>
                        <a:rPr sz="105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5" dirty="0">
                          <a:latin typeface="Trebuchet MS"/>
                          <a:cs typeface="Trebuchet MS"/>
                        </a:rPr>
                        <a:t>lab </a:t>
                      </a:r>
                      <a:r>
                        <a:rPr sz="1050" spc="-20" dirty="0">
                          <a:latin typeface="Trebuchet MS"/>
                          <a:cs typeface="Trebuchet MS"/>
                        </a:rPr>
                        <a:t>description(364).</a:t>
                      </a:r>
                      <a:r>
                        <a:rPr sz="105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5" dirty="0">
                          <a:latin typeface="Trebuchet MS"/>
                          <a:cs typeface="Trebuchet MS"/>
                        </a:rPr>
                        <a:t>fix</a:t>
                      </a:r>
                      <a:r>
                        <a:rPr sz="105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typo(363)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1874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050" spc="-10" dirty="0">
                          <a:latin typeface="Trebuchet MS"/>
                          <a:cs typeface="Trebuchet MS"/>
                        </a:rPr>
                        <a:t>Unit</a:t>
                      </a:r>
                      <a:r>
                        <a:rPr sz="105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105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Pandas</a:t>
                      </a:r>
                      <a:r>
                        <a:rPr sz="105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0" dirty="0">
                          <a:latin typeface="Trebuchet MS"/>
                          <a:cs typeface="Trebuchet MS"/>
                        </a:rPr>
                        <a:t>Data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Preprocessing</a:t>
                      </a:r>
                      <a:r>
                        <a:rPr sz="105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5" dirty="0">
                          <a:latin typeface="Trebuchet MS"/>
                          <a:cs typeface="Trebuchet MS"/>
                        </a:rPr>
                        <a:t>for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Optimal</a:t>
                      </a:r>
                      <a:r>
                        <a:rPr sz="105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Model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 Execution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050" spc="-25" dirty="0">
                          <a:latin typeface="Trebuchet MS"/>
                          <a:cs typeface="Trebuchet MS"/>
                        </a:rPr>
                        <a:t>3.5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4318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050" spc="-25" dirty="0">
                          <a:latin typeface="Trebuchet MS"/>
                          <a:cs typeface="Trebuchet MS"/>
                        </a:rPr>
                        <a:t>412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4318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Trebuchet MS"/>
                          <a:cs typeface="Trebuchet MS"/>
                        </a:rPr>
                        <a:t>Revised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4318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127000" algn="just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050" dirty="0">
                          <a:latin typeface="Trebuchet MS"/>
                          <a:cs typeface="Trebuchet MS"/>
                        </a:rPr>
                        <a:t>Added</a:t>
                      </a:r>
                      <a:r>
                        <a:rPr sz="105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missing</a:t>
                      </a:r>
                      <a:r>
                        <a:rPr sz="105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exercises(ex_011 </a:t>
                      </a:r>
                      <a:r>
                        <a:rPr sz="1050" spc="-60" dirty="0">
                          <a:latin typeface="Trebuchet MS"/>
                          <a:cs typeface="Trebuchet MS"/>
                        </a:rPr>
                        <a:t>0).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 New</a:t>
                      </a:r>
                      <a:r>
                        <a:rPr sz="105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0" dirty="0">
                          <a:latin typeface="Trebuchet MS"/>
                          <a:cs typeface="Trebuchet MS"/>
                        </a:rPr>
                        <a:t>exercises</a:t>
                      </a:r>
                      <a:r>
                        <a:rPr sz="105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using</a:t>
                      </a:r>
                      <a:r>
                        <a:rPr sz="105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TV_Sale </a:t>
                      </a:r>
                      <a:r>
                        <a:rPr sz="1050" spc="50" dirty="0">
                          <a:latin typeface="Trebuchet MS"/>
                          <a:cs typeface="Trebuchet MS"/>
                        </a:rPr>
                        <a:t>s</a:t>
                      </a:r>
                      <a:r>
                        <a:rPr sz="105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data.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1930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050" spc="-10" dirty="0">
                          <a:latin typeface="Trebuchet MS"/>
                          <a:cs typeface="Trebuchet MS"/>
                        </a:rPr>
                        <a:t>almost </a:t>
                      </a:r>
                      <a:r>
                        <a:rPr sz="1050" spc="-25" dirty="0">
                          <a:latin typeface="Trebuchet MS"/>
                          <a:cs typeface="Trebuchet MS"/>
                        </a:rPr>
                        <a:t>all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sz="1050" b="1" spc="-10" dirty="0">
                          <a:latin typeface="Trebuchet MS"/>
                          <a:cs typeface="Trebuchet MS"/>
                        </a:rPr>
                        <a:t>Revised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116839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13144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050" dirty="0">
                          <a:latin typeface="Trebuchet MS"/>
                          <a:cs typeface="Trebuchet MS"/>
                        </a:rPr>
                        <a:t>Screenshots</a:t>
                      </a:r>
                      <a:r>
                        <a:rPr sz="105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105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sz="105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modified</a:t>
                      </a:r>
                      <a:r>
                        <a:rPr sz="105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5" dirty="0">
                          <a:latin typeface="Trebuchet MS"/>
                          <a:cs typeface="Trebuchet MS"/>
                        </a:rPr>
                        <a:t>cod </a:t>
                      </a:r>
                      <a:r>
                        <a:rPr sz="1050" spc="-3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105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5" dirty="0">
                          <a:latin typeface="Trebuchet MS"/>
                          <a:cs typeface="Trebuchet MS"/>
                        </a:rPr>
                        <a:t>are</a:t>
                      </a:r>
                      <a:r>
                        <a:rPr sz="105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30" dirty="0">
                          <a:latin typeface="Trebuchet MS"/>
                          <a:cs typeface="Trebuchet MS"/>
                        </a:rPr>
                        <a:t>reflected</a:t>
                      </a:r>
                      <a:r>
                        <a:rPr sz="105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sz="105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sz="105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textbook.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39179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050" spc="-10" dirty="0">
                          <a:latin typeface="Trebuchet MS"/>
                          <a:cs typeface="Trebuchet MS"/>
                        </a:rPr>
                        <a:t>Unit</a:t>
                      </a:r>
                      <a:r>
                        <a:rPr sz="105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105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Optimal</a:t>
                      </a:r>
                      <a:r>
                        <a:rPr sz="1050" spc="-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0" dirty="0">
                          <a:latin typeface="Trebuchet MS"/>
                          <a:cs typeface="Trebuchet MS"/>
                        </a:rPr>
                        <a:t>Data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Exploration</a:t>
                      </a:r>
                      <a:r>
                        <a:rPr sz="105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Through Pandas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47955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sz="1050" spc="-70" dirty="0">
                          <a:latin typeface="Trebuchet MS"/>
                          <a:cs typeface="Trebuchet MS"/>
                        </a:rPr>
                        <a:t>2.4.</a:t>
                      </a:r>
                      <a:r>
                        <a:rPr sz="105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DataFrame</a:t>
                      </a:r>
                      <a:r>
                        <a:rPr sz="105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Sortin </a:t>
                      </a:r>
                      <a:r>
                        <a:rPr sz="1050" spc="65" dirty="0">
                          <a:latin typeface="Trebuchet MS"/>
                          <a:cs typeface="Trebuchet MS"/>
                        </a:rPr>
                        <a:t>g</a:t>
                      </a:r>
                      <a:r>
                        <a:rPr sz="105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105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Multi-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Index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116839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50" spc="-35" dirty="0">
                          <a:latin typeface="Trebuchet MS"/>
                          <a:cs typeface="Trebuchet MS"/>
                        </a:rPr>
                        <a:t>45,</a:t>
                      </a:r>
                      <a:r>
                        <a:rPr sz="105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5" dirty="0">
                          <a:latin typeface="Trebuchet MS"/>
                          <a:cs typeface="Trebuchet MS"/>
                        </a:rPr>
                        <a:t>339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4318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50" b="1" spc="-10" dirty="0">
                          <a:latin typeface="Trebuchet MS"/>
                          <a:cs typeface="Trebuchet MS"/>
                        </a:rPr>
                        <a:t>Revised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4318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131445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sz="1050" spc="-25" dirty="0">
                          <a:latin typeface="Trebuchet MS"/>
                          <a:cs typeface="Trebuchet MS"/>
                        </a:rPr>
                        <a:t>fixed</a:t>
                      </a:r>
                      <a:r>
                        <a:rPr sz="105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30" dirty="0">
                          <a:latin typeface="Trebuchet MS"/>
                          <a:cs typeface="Trebuchet MS"/>
                        </a:rPr>
                        <a:t>typo(45),</a:t>
                      </a:r>
                      <a:r>
                        <a:rPr sz="105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Change</a:t>
                      </a:r>
                      <a:r>
                        <a:rPr sz="105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lab</a:t>
                      </a:r>
                      <a:r>
                        <a:rPr sz="105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locati on(339)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116839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350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95806" y="6524364"/>
            <a:ext cx="49182" cy="8446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531" y="6510528"/>
            <a:ext cx="2044445" cy="16078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7892" y="6533388"/>
            <a:ext cx="1677161" cy="104394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2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002E8E"/>
                </a:solidFill>
                <a:latin typeface="Arial"/>
                <a:cs typeface="Arial"/>
              </a:rPr>
              <a:t>Revision</a:t>
            </a:r>
            <a:r>
              <a:rPr sz="2400" b="1" spc="-95" dirty="0">
                <a:solidFill>
                  <a:srgbClr val="002E8E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2E8E"/>
                </a:solidFill>
                <a:latin typeface="Arial"/>
                <a:cs typeface="Arial"/>
              </a:rPr>
              <a:t>History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16452" y="630936"/>
            <a:ext cx="5833110" cy="0"/>
          </a:xfrm>
          <a:custGeom>
            <a:avLst/>
            <a:gdLst/>
            <a:ahLst/>
            <a:cxnLst/>
            <a:rect l="l" t="t" r="r" b="b"/>
            <a:pathLst>
              <a:path w="5833109">
                <a:moveTo>
                  <a:pt x="0" y="0"/>
                </a:moveTo>
                <a:lnTo>
                  <a:pt x="5832602" y="0"/>
                </a:lnTo>
              </a:path>
            </a:pathLst>
          </a:custGeom>
          <a:ln w="12700">
            <a:solidFill>
              <a:srgbClr val="1328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59816" y="1167764"/>
          <a:ext cx="8785857" cy="363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5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11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5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96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99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131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1305">
                <a:tc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050" spc="-10" dirty="0">
                          <a:latin typeface="Trebuchet MS"/>
                          <a:cs typeface="Trebuchet MS"/>
                        </a:rPr>
                        <a:t>Version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5080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050" spc="-20" dirty="0">
                          <a:latin typeface="Trebuchet MS"/>
                          <a:cs typeface="Trebuchet MS"/>
                        </a:rPr>
                        <a:t>Unit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5080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050" spc="-20" dirty="0">
                          <a:latin typeface="Trebuchet MS"/>
                          <a:cs typeface="Trebuchet MS"/>
                        </a:rPr>
                        <a:t>Unit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5080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050" dirty="0">
                          <a:latin typeface="Trebuchet MS"/>
                          <a:cs typeface="Trebuchet MS"/>
                        </a:rPr>
                        <a:t>Slide</a:t>
                      </a:r>
                      <a:r>
                        <a:rPr sz="1050" spc="-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5" dirty="0">
                          <a:latin typeface="Trebuchet MS"/>
                          <a:cs typeface="Trebuchet MS"/>
                        </a:rPr>
                        <a:t>No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5080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050" dirty="0">
                          <a:latin typeface="Trebuchet MS"/>
                          <a:cs typeface="Trebuchet MS"/>
                        </a:rPr>
                        <a:t>Change</a:t>
                      </a:r>
                      <a:r>
                        <a:rPr sz="105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0" dirty="0">
                          <a:latin typeface="Trebuchet MS"/>
                          <a:cs typeface="Trebuchet MS"/>
                        </a:rPr>
                        <a:t>Type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5080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9751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050" spc="-10" dirty="0">
                          <a:latin typeface="Trebuchet MS"/>
                          <a:cs typeface="Trebuchet MS"/>
                        </a:rPr>
                        <a:t>Description</a:t>
                      </a:r>
                      <a:r>
                        <a:rPr sz="105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105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Change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5080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2829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050" spc="-10" dirty="0">
                          <a:latin typeface="Trebuchet MS"/>
                          <a:cs typeface="Trebuchet MS"/>
                        </a:rPr>
                        <a:t>Remark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5080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8318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50" spc="-10" dirty="0">
                          <a:latin typeface="Trebuchet MS"/>
                          <a:cs typeface="Trebuchet MS"/>
                        </a:rPr>
                        <a:t>Unit</a:t>
                      </a:r>
                      <a:r>
                        <a:rPr sz="105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25" dirty="0">
                          <a:latin typeface="Trebuchet MS"/>
                          <a:cs typeface="Trebuchet MS"/>
                        </a:rPr>
                        <a:t>1.</a:t>
                      </a:r>
                      <a:r>
                        <a:rPr sz="105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NumPy</a:t>
                      </a:r>
                      <a:r>
                        <a:rPr sz="105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Array </a:t>
                      </a:r>
                      <a:r>
                        <a:rPr sz="1050" spc="-20" dirty="0">
                          <a:latin typeface="Trebuchet MS"/>
                          <a:cs typeface="Trebuchet MS"/>
                        </a:rPr>
                        <a:t>Data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Structure</a:t>
                      </a:r>
                      <a:r>
                        <a:rPr sz="105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sz="105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Optimal</a:t>
                      </a:r>
                      <a:r>
                        <a:rPr sz="105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5" dirty="0">
                          <a:latin typeface="Trebuchet MS"/>
                          <a:cs typeface="Trebuchet MS"/>
                        </a:rPr>
                        <a:t>Co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mputational</a:t>
                      </a:r>
                      <a:r>
                        <a:rPr sz="105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Performance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42240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1050" spc="-105" dirty="0">
                          <a:latin typeface="Trebuchet MS"/>
                          <a:cs typeface="Trebuchet MS"/>
                        </a:rPr>
                        <a:t>1.2.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 NumPy</a:t>
                      </a:r>
                      <a:r>
                        <a:rPr sz="105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Array</a:t>
                      </a:r>
                      <a:r>
                        <a:rPr sz="105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0" dirty="0">
                          <a:latin typeface="Trebuchet MS"/>
                          <a:cs typeface="Trebuchet MS"/>
                        </a:rPr>
                        <a:t>Basi </a:t>
                      </a:r>
                      <a:r>
                        <a:rPr sz="1050" spc="-25" dirty="0">
                          <a:latin typeface="Trebuchet MS"/>
                          <a:cs typeface="Trebuchet MS"/>
                        </a:rPr>
                        <a:t>cs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11620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050" spc="-25" dirty="0">
                          <a:latin typeface="Trebuchet MS"/>
                          <a:cs typeface="Trebuchet MS"/>
                        </a:rPr>
                        <a:t>47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4254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Trebuchet MS"/>
                          <a:cs typeface="Trebuchet MS"/>
                        </a:rPr>
                        <a:t>Revised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4254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050" spc="-10" dirty="0">
                          <a:latin typeface="Trebuchet MS"/>
                          <a:cs typeface="Trebuchet MS"/>
                        </a:rPr>
                        <a:t>Edited</a:t>
                      </a:r>
                      <a:r>
                        <a:rPr sz="105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slide</a:t>
                      </a:r>
                      <a:r>
                        <a:rPr sz="105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description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4254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50" spc="-95" dirty="0">
                          <a:latin typeface="Trebuchet MS"/>
                          <a:cs typeface="Trebuchet MS"/>
                        </a:rPr>
                        <a:t>1.3.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NumPy</a:t>
                      </a:r>
                      <a:r>
                        <a:rPr sz="105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Array</a:t>
                      </a:r>
                      <a:r>
                        <a:rPr sz="105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0" dirty="0">
                          <a:latin typeface="Trebuchet MS"/>
                          <a:cs typeface="Trebuchet MS"/>
                        </a:rPr>
                        <a:t>Oper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050" spc="-10" dirty="0">
                          <a:latin typeface="Trebuchet MS"/>
                          <a:cs typeface="Trebuchet MS"/>
                        </a:rPr>
                        <a:t>ations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1050" spc="-25" dirty="0">
                          <a:latin typeface="Trebuchet MS"/>
                          <a:cs typeface="Trebuchet MS"/>
                        </a:rPr>
                        <a:t>85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11620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1050" b="1" spc="-10" dirty="0">
                          <a:latin typeface="Trebuchet MS"/>
                          <a:cs typeface="Trebuchet MS"/>
                        </a:rPr>
                        <a:t>Revised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11620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1050" dirty="0">
                          <a:latin typeface="Trebuchet MS"/>
                          <a:cs typeface="Trebuchet MS"/>
                        </a:rPr>
                        <a:t>Change</a:t>
                      </a:r>
                      <a:r>
                        <a:rPr sz="1050" spc="-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5" dirty="0">
                          <a:latin typeface="Trebuchet MS"/>
                          <a:cs typeface="Trebuchet MS"/>
                        </a:rPr>
                        <a:t>code</a:t>
                      </a:r>
                      <a:r>
                        <a:rPr sz="105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screenshot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11620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391795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1050" dirty="0">
                          <a:latin typeface="Trebuchet MS"/>
                          <a:cs typeface="Trebuchet MS"/>
                        </a:rPr>
                        <a:t>Unit</a:t>
                      </a:r>
                      <a:r>
                        <a:rPr sz="105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105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Optimal</a:t>
                      </a:r>
                      <a:r>
                        <a:rPr sz="1050" spc="-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0" dirty="0">
                          <a:latin typeface="Trebuchet MS"/>
                          <a:cs typeface="Trebuchet MS"/>
                        </a:rPr>
                        <a:t>Data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Exploration</a:t>
                      </a:r>
                      <a:r>
                        <a:rPr sz="105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Through Pandas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11620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050" spc="-85" dirty="0">
                          <a:latin typeface="Trebuchet MS"/>
                          <a:cs typeface="Trebuchet MS"/>
                        </a:rPr>
                        <a:t>2.2,</a:t>
                      </a:r>
                      <a:r>
                        <a:rPr sz="105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80" dirty="0">
                          <a:latin typeface="Trebuchet MS"/>
                          <a:cs typeface="Trebuchet MS"/>
                        </a:rPr>
                        <a:t>2.3,</a:t>
                      </a:r>
                      <a:r>
                        <a:rPr sz="105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75" dirty="0">
                          <a:latin typeface="Trebuchet MS"/>
                          <a:cs typeface="Trebuchet MS"/>
                        </a:rPr>
                        <a:t>2.4, </a:t>
                      </a:r>
                      <a:r>
                        <a:rPr sz="1050" spc="-25" dirty="0">
                          <a:latin typeface="Trebuchet MS"/>
                          <a:cs typeface="Trebuchet MS"/>
                        </a:rPr>
                        <a:t>2.5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1225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50" dirty="0">
                          <a:latin typeface="Trebuchet MS"/>
                          <a:cs typeface="Trebuchet MS"/>
                        </a:rPr>
                        <a:t>247-</a:t>
                      </a:r>
                      <a:r>
                        <a:rPr sz="1050" spc="-20" dirty="0">
                          <a:latin typeface="Trebuchet MS"/>
                          <a:cs typeface="Trebuchet MS"/>
                        </a:rPr>
                        <a:t>257,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050" spc="-55" dirty="0">
                          <a:latin typeface="Trebuchet MS"/>
                          <a:cs typeface="Trebuchet MS"/>
                        </a:rPr>
                        <a:t>297,</a:t>
                      </a:r>
                      <a:r>
                        <a:rPr sz="105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0" dirty="0">
                          <a:latin typeface="Trebuchet MS"/>
                          <a:cs typeface="Trebuchet MS"/>
                        </a:rPr>
                        <a:t>298,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050" spc="-20" dirty="0">
                          <a:latin typeface="Trebuchet MS"/>
                          <a:cs typeface="Trebuchet MS"/>
                        </a:rPr>
                        <a:t>319,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050" dirty="0">
                          <a:latin typeface="Trebuchet MS"/>
                          <a:cs typeface="Trebuchet MS"/>
                        </a:rPr>
                        <a:t>336-</a:t>
                      </a:r>
                      <a:r>
                        <a:rPr sz="1050" spc="-25" dirty="0">
                          <a:latin typeface="Trebuchet MS"/>
                          <a:cs typeface="Trebuchet MS"/>
                        </a:rPr>
                        <a:t>339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Trebuchet MS"/>
                          <a:cs typeface="Trebuchet MS"/>
                        </a:rPr>
                        <a:t>Revised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1225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050" dirty="0">
                          <a:latin typeface="Trebuchet MS"/>
                          <a:cs typeface="Trebuchet MS"/>
                        </a:rPr>
                        <a:t>Change</a:t>
                      </a:r>
                      <a:r>
                        <a:rPr sz="1050" spc="-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5" dirty="0">
                          <a:latin typeface="Trebuchet MS"/>
                          <a:cs typeface="Trebuchet MS"/>
                        </a:rPr>
                        <a:t>code</a:t>
                      </a:r>
                      <a:r>
                        <a:rPr sz="105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screenshot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12255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187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50" dirty="0">
                          <a:latin typeface="Trebuchet MS"/>
                          <a:cs typeface="Trebuchet MS"/>
                        </a:rPr>
                        <a:t>Unit</a:t>
                      </a:r>
                      <a:r>
                        <a:rPr sz="105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105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Pandas</a:t>
                      </a:r>
                      <a:r>
                        <a:rPr sz="105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0" dirty="0">
                          <a:latin typeface="Trebuchet MS"/>
                          <a:cs typeface="Trebuchet MS"/>
                        </a:rPr>
                        <a:t>Data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Preprocessing</a:t>
                      </a:r>
                      <a:r>
                        <a:rPr sz="105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5" dirty="0">
                          <a:latin typeface="Trebuchet MS"/>
                          <a:cs typeface="Trebuchet MS"/>
                        </a:rPr>
                        <a:t>for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Optimal</a:t>
                      </a:r>
                      <a:r>
                        <a:rPr sz="105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Model</a:t>
                      </a:r>
                      <a:r>
                        <a:rPr sz="105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Execution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28270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1050" spc="-95" dirty="0">
                          <a:latin typeface="Trebuchet MS"/>
                          <a:cs typeface="Trebuchet MS"/>
                        </a:rPr>
                        <a:t>3.1.</a:t>
                      </a:r>
                      <a:r>
                        <a:rPr sz="105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Data</a:t>
                      </a:r>
                      <a:r>
                        <a:rPr sz="105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Preprocessin </a:t>
                      </a:r>
                      <a:r>
                        <a:rPr sz="1050" spc="15" dirty="0">
                          <a:latin typeface="Trebuchet MS"/>
                          <a:cs typeface="Trebuchet MS"/>
                        </a:rPr>
                        <a:t>g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11620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50" spc="-35" dirty="0">
                          <a:latin typeface="Trebuchet MS"/>
                          <a:cs typeface="Trebuchet MS"/>
                        </a:rPr>
                        <a:t>342,</a:t>
                      </a:r>
                      <a:r>
                        <a:rPr sz="105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25" dirty="0">
                          <a:latin typeface="Trebuchet MS"/>
                          <a:cs typeface="Trebuchet MS"/>
                        </a:rPr>
                        <a:t>343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4254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50" b="1" spc="-10" dirty="0">
                          <a:latin typeface="Trebuchet MS"/>
                          <a:cs typeface="Trebuchet MS"/>
                        </a:rPr>
                        <a:t>Revised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4254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50" spc="-10" dirty="0">
                          <a:latin typeface="Trebuchet MS"/>
                          <a:cs typeface="Trebuchet MS"/>
                        </a:rPr>
                        <a:t>Edited</a:t>
                      </a:r>
                      <a:r>
                        <a:rPr sz="105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slide</a:t>
                      </a:r>
                      <a:r>
                        <a:rPr sz="105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description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42545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903460" cy="6858000"/>
            <a:chOff x="0" y="0"/>
            <a:chExt cx="990346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902952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49580" y="449580"/>
              <a:ext cx="1282065" cy="198120"/>
            </a:xfrm>
            <a:custGeom>
              <a:avLst/>
              <a:gdLst/>
              <a:ahLst/>
              <a:cxnLst/>
              <a:rect l="l" t="t" r="r" b="b"/>
              <a:pathLst>
                <a:path w="1282064" h="198120">
                  <a:moveTo>
                    <a:pt x="48818" y="130556"/>
                  </a:moveTo>
                  <a:lnTo>
                    <a:pt x="0" y="130556"/>
                  </a:lnTo>
                  <a:lnTo>
                    <a:pt x="44" y="144982"/>
                  </a:lnTo>
                  <a:lnTo>
                    <a:pt x="5587" y="170366"/>
                  </a:lnTo>
                  <a:lnTo>
                    <a:pt x="20439" y="186785"/>
                  </a:lnTo>
                  <a:lnTo>
                    <a:pt x="41689" y="195536"/>
                  </a:lnTo>
                  <a:lnTo>
                    <a:pt x="66471" y="198120"/>
                  </a:lnTo>
                  <a:lnTo>
                    <a:pt x="89894" y="195871"/>
                  </a:lnTo>
                  <a:lnTo>
                    <a:pt x="109624" y="188610"/>
                  </a:lnTo>
                  <a:lnTo>
                    <a:pt x="123952" y="175563"/>
                  </a:lnTo>
                  <a:lnTo>
                    <a:pt x="127895" y="164846"/>
                  </a:lnTo>
                  <a:lnTo>
                    <a:pt x="55879" y="164846"/>
                  </a:lnTo>
                  <a:lnTo>
                    <a:pt x="49403" y="158369"/>
                  </a:lnTo>
                  <a:lnTo>
                    <a:pt x="49286" y="144780"/>
                  </a:lnTo>
                  <a:lnTo>
                    <a:pt x="48818" y="130556"/>
                  </a:lnTo>
                  <a:close/>
                </a:path>
                <a:path w="1282064" h="198120">
                  <a:moveTo>
                    <a:pt x="65874" y="0"/>
                  </a:moveTo>
                  <a:lnTo>
                    <a:pt x="23748" y="9429"/>
                  </a:lnTo>
                  <a:lnTo>
                    <a:pt x="2349" y="41529"/>
                  </a:lnTo>
                  <a:lnTo>
                    <a:pt x="584" y="49784"/>
                  </a:lnTo>
                  <a:lnTo>
                    <a:pt x="584" y="56896"/>
                  </a:lnTo>
                  <a:lnTo>
                    <a:pt x="2349" y="66421"/>
                  </a:lnTo>
                  <a:lnTo>
                    <a:pt x="17379" y="90144"/>
                  </a:lnTo>
                  <a:lnTo>
                    <a:pt x="43159" y="107711"/>
                  </a:lnTo>
                  <a:lnTo>
                    <a:pt x="69270" y="122731"/>
                  </a:lnTo>
                  <a:lnTo>
                    <a:pt x="85293" y="138811"/>
                  </a:lnTo>
                  <a:lnTo>
                    <a:pt x="87058" y="143002"/>
                  </a:lnTo>
                  <a:lnTo>
                    <a:pt x="86513" y="148336"/>
                  </a:lnTo>
                  <a:lnTo>
                    <a:pt x="86461" y="148844"/>
                  </a:lnTo>
                  <a:lnTo>
                    <a:pt x="85293" y="152400"/>
                  </a:lnTo>
                  <a:lnTo>
                    <a:pt x="84112" y="158369"/>
                  </a:lnTo>
                  <a:lnTo>
                    <a:pt x="79997" y="164846"/>
                  </a:lnTo>
                  <a:lnTo>
                    <a:pt x="127895" y="164846"/>
                  </a:lnTo>
                  <a:lnTo>
                    <a:pt x="131165" y="155956"/>
                  </a:lnTo>
                  <a:lnTo>
                    <a:pt x="132240" y="144982"/>
                  </a:lnTo>
                  <a:lnTo>
                    <a:pt x="132270" y="136175"/>
                  </a:lnTo>
                  <a:lnTo>
                    <a:pt x="131816" y="130556"/>
                  </a:lnTo>
                  <a:lnTo>
                    <a:pt x="89111" y="83185"/>
                  </a:lnTo>
                  <a:lnTo>
                    <a:pt x="62844" y="68687"/>
                  </a:lnTo>
                  <a:lnTo>
                    <a:pt x="48818" y="53975"/>
                  </a:lnTo>
                  <a:lnTo>
                    <a:pt x="47637" y="49784"/>
                  </a:lnTo>
                  <a:lnTo>
                    <a:pt x="48128" y="46862"/>
                  </a:lnTo>
                  <a:lnTo>
                    <a:pt x="48234" y="43942"/>
                  </a:lnTo>
                  <a:lnTo>
                    <a:pt x="49278" y="38608"/>
                  </a:lnTo>
                  <a:lnTo>
                    <a:pt x="49403" y="37973"/>
                  </a:lnTo>
                  <a:lnTo>
                    <a:pt x="53530" y="31496"/>
                  </a:lnTo>
                  <a:lnTo>
                    <a:pt x="124381" y="31496"/>
                  </a:lnTo>
                  <a:lnTo>
                    <a:pt x="122128" y="22502"/>
                  </a:lnTo>
                  <a:lnTo>
                    <a:pt x="106759" y="8286"/>
                  </a:lnTo>
                  <a:lnTo>
                    <a:pt x="86537" y="1643"/>
                  </a:lnTo>
                  <a:lnTo>
                    <a:pt x="65874" y="0"/>
                  </a:lnTo>
                  <a:close/>
                </a:path>
                <a:path w="1282064" h="198120">
                  <a:moveTo>
                    <a:pt x="124381" y="31496"/>
                  </a:moveTo>
                  <a:lnTo>
                    <a:pt x="75882" y="31496"/>
                  </a:lnTo>
                  <a:lnTo>
                    <a:pt x="82346" y="38608"/>
                  </a:lnTo>
                  <a:lnTo>
                    <a:pt x="82346" y="59944"/>
                  </a:lnTo>
                  <a:lnTo>
                    <a:pt x="128231" y="59944"/>
                  </a:lnTo>
                  <a:lnTo>
                    <a:pt x="128231" y="46862"/>
                  </a:lnTo>
                  <a:lnTo>
                    <a:pt x="124381" y="31496"/>
                  </a:lnTo>
                  <a:close/>
                </a:path>
                <a:path w="1282064" h="198120">
                  <a:moveTo>
                    <a:pt x="645248" y="129921"/>
                  </a:moveTo>
                  <a:lnTo>
                    <a:pt x="596430" y="129921"/>
                  </a:lnTo>
                  <a:lnTo>
                    <a:pt x="596516" y="144545"/>
                  </a:lnTo>
                  <a:lnTo>
                    <a:pt x="601926" y="169652"/>
                  </a:lnTo>
                  <a:lnTo>
                    <a:pt x="616575" y="185896"/>
                  </a:lnTo>
                  <a:lnTo>
                    <a:pt x="637620" y="194472"/>
                  </a:lnTo>
                  <a:lnTo>
                    <a:pt x="662305" y="196977"/>
                  </a:lnTo>
                  <a:lnTo>
                    <a:pt x="685643" y="194738"/>
                  </a:lnTo>
                  <a:lnTo>
                    <a:pt x="705177" y="187547"/>
                  </a:lnTo>
                  <a:lnTo>
                    <a:pt x="719304" y="174688"/>
                  </a:lnTo>
                  <a:lnTo>
                    <a:pt x="723136" y="164337"/>
                  </a:lnTo>
                  <a:lnTo>
                    <a:pt x="651725" y="164337"/>
                  </a:lnTo>
                  <a:lnTo>
                    <a:pt x="645248" y="157734"/>
                  </a:lnTo>
                  <a:lnTo>
                    <a:pt x="645248" y="129921"/>
                  </a:lnTo>
                  <a:close/>
                </a:path>
                <a:path w="1282064" h="198120">
                  <a:moveTo>
                    <a:pt x="661720" y="1143"/>
                  </a:moveTo>
                  <a:lnTo>
                    <a:pt x="619813" y="10271"/>
                  </a:lnTo>
                  <a:lnTo>
                    <a:pt x="598195" y="42164"/>
                  </a:lnTo>
                  <a:lnTo>
                    <a:pt x="597027" y="49784"/>
                  </a:lnTo>
                  <a:lnTo>
                    <a:pt x="597027" y="57531"/>
                  </a:lnTo>
                  <a:lnTo>
                    <a:pt x="598779" y="66421"/>
                  </a:lnTo>
                  <a:lnTo>
                    <a:pt x="613708" y="90044"/>
                  </a:lnTo>
                  <a:lnTo>
                    <a:pt x="639222" y="107394"/>
                  </a:lnTo>
                  <a:lnTo>
                    <a:pt x="664955" y="122195"/>
                  </a:lnTo>
                  <a:lnTo>
                    <a:pt x="680542" y="138175"/>
                  </a:lnTo>
                  <a:lnTo>
                    <a:pt x="682307" y="143002"/>
                  </a:lnTo>
                  <a:lnTo>
                    <a:pt x="681723" y="148336"/>
                  </a:lnTo>
                  <a:lnTo>
                    <a:pt x="681139" y="151892"/>
                  </a:lnTo>
                  <a:lnTo>
                    <a:pt x="679373" y="158369"/>
                  </a:lnTo>
                  <a:lnTo>
                    <a:pt x="675246" y="164337"/>
                  </a:lnTo>
                  <a:lnTo>
                    <a:pt x="723136" y="164337"/>
                  </a:lnTo>
                  <a:lnTo>
                    <a:pt x="726427" y="155448"/>
                  </a:lnTo>
                  <a:lnTo>
                    <a:pt x="727244" y="144545"/>
                  </a:lnTo>
                  <a:lnTo>
                    <a:pt x="727233" y="135858"/>
                  </a:lnTo>
                  <a:lnTo>
                    <a:pt x="726714" y="129921"/>
                  </a:lnTo>
                  <a:lnTo>
                    <a:pt x="726670" y="129409"/>
                  </a:lnTo>
                  <a:lnTo>
                    <a:pt x="725830" y="125222"/>
                  </a:lnTo>
                  <a:lnTo>
                    <a:pt x="710667" y="101070"/>
                  </a:lnTo>
                  <a:lnTo>
                    <a:pt x="684366" y="83359"/>
                  </a:lnTo>
                  <a:lnTo>
                    <a:pt x="658505" y="68768"/>
                  </a:lnTo>
                  <a:lnTo>
                    <a:pt x="644664" y="53975"/>
                  </a:lnTo>
                  <a:lnTo>
                    <a:pt x="643483" y="50419"/>
                  </a:lnTo>
                  <a:lnTo>
                    <a:pt x="643973" y="47498"/>
                  </a:lnTo>
                  <a:lnTo>
                    <a:pt x="644080" y="46862"/>
                  </a:lnTo>
                  <a:lnTo>
                    <a:pt x="644664" y="44450"/>
                  </a:lnTo>
                  <a:lnTo>
                    <a:pt x="645743" y="39116"/>
                  </a:lnTo>
                  <a:lnTo>
                    <a:pt x="645845" y="38608"/>
                  </a:lnTo>
                  <a:lnTo>
                    <a:pt x="649376" y="32004"/>
                  </a:lnTo>
                  <a:lnTo>
                    <a:pt x="719077" y="32004"/>
                  </a:lnTo>
                  <a:lnTo>
                    <a:pt x="716977" y="23485"/>
                  </a:lnTo>
                  <a:lnTo>
                    <a:pt x="702014" y="9413"/>
                  </a:lnTo>
                  <a:lnTo>
                    <a:pt x="682198" y="2795"/>
                  </a:lnTo>
                  <a:lnTo>
                    <a:pt x="661720" y="1143"/>
                  </a:lnTo>
                  <a:close/>
                </a:path>
                <a:path w="1282064" h="198120">
                  <a:moveTo>
                    <a:pt x="719077" y="32004"/>
                  </a:moveTo>
                  <a:lnTo>
                    <a:pt x="671728" y="32004"/>
                  </a:lnTo>
                  <a:lnTo>
                    <a:pt x="677608" y="39116"/>
                  </a:lnTo>
                  <a:lnTo>
                    <a:pt x="677608" y="60452"/>
                  </a:lnTo>
                  <a:lnTo>
                    <a:pt x="722896" y="60452"/>
                  </a:lnTo>
                  <a:lnTo>
                    <a:pt x="722896" y="47498"/>
                  </a:lnTo>
                  <a:lnTo>
                    <a:pt x="719077" y="32004"/>
                  </a:lnTo>
                  <a:close/>
                </a:path>
                <a:path w="1282064" h="198120">
                  <a:moveTo>
                    <a:pt x="1017524" y="5969"/>
                  </a:moveTo>
                  <a:lnTo>
                    <a:pt x="949325" y="5969"/>
                  </a:lnTo>
                  <a:lnTo>
                    <a:pt x="949325" y="189230"/>
                  </a:lnTo>
                  <a:lnTo>
                    <a:pt x="994663" y="189230"/>
                  </a:lnTo>
                  <a:lnTo>
                    <a:pt x="991788" y="37961"/>
                  </a:lnTo>
                  <a:lnTo>
                    <a:pt x="991743" y="35560"/>
                  </a:lnTo>
                  <a:lnTo>
                    <a:pt x="1026083" y="35560"/>
                  </a:lnTo>
                  <a:lnTo>
                    <a:pt x="1017524" y="5969"/>
                  </a:lnTo>
                  <a:close/>
                </a:path>
                <a:path w="1282064" h="198120">
                  <a:moveTo>
                    <a:pt x="1026083" y="35560"/>
                  </a:moveTo>
                  <a:lnTo>
                    <a:pt x="991743" y="35560"/>
                  </a:lnTo>
                  <a:lnTo>
                    <a:pt x="1038225" y="189230"/>
                  </a:lnTo>
                  <a:lnTo>
                    <a:pt x="1103503" y="189230"/>
                  </a:lnTo>
                  <a:lnTo>
                    <a:pt x="1103503" y="154812"/>
                  </a:lnTo>
                  <a:lnTo>
                    <a:pt x="1060577" y="154812"/>
                  </a:lnTo>
                  <a:lnTo>
                    <a:pt x="1026083" y="35560"/>
                  </a:lnTo>
                  <a:close/>
                </a:path>
                <a:path w="1282064" h="198120">
                  <a:moveTo>
                    <a:pt x="1103503" y="5969"/>
                  </a:moveTo>
                  <a:lnTo>
                    <a:pt x="1058164" y="5969"/>
                  </a:lnTo>
                  <a:lnTo>
                    <a:pt x="1060577" y="154812"/>
                  </a:lnTo>
                  <a:lnTo>
                    <a:pt x="1103503" y="154812"/>
                  </a:lnTo>
                  <a:lnTo>
                    <a:pt x="1103503" y="5969"/>
                  </a:lnTo>
                  <a:close/>
                </a:path>
                <a:path w="1282064" h="198120">
                  <a:moveTo>
                    <a:pt x="277634" y="5969"/>
                  </a:moveTo>
                  <a:lnTo>
                    <a:pt x="195872" y="5969"/>
                  </a:lnTo>
                  <a:lnTo>
                    <a:pt x="162344" y="191008"/>
                  </a:lnTo>
                  <a:lnTo>
                    <a:pt x="211747" y="191008"/>
                  </a:lnTo>
                  <a:lnTo>
                    <a:pt x="237045" y="19558"/>
                  </a:lnTo>
                  <a:lnTo>
                    <a:pt x="280096" y="19558"/>
                  </a:lnTo>
                  <a:lnTo>
                    <a:pt x="277634" y="5969"/>
                  </a:lnTo>
                  <a:close/>
                </a:path>
                <a:path w="1282064" h="198120">
                  <a:moveTo>
                    <a:pt x="280096" y="19558"/>
                  </a:moveTo>
                  <a:lnTo>
                    <a:pt x="237045" y="19558"/>
                  </a:lnTo>
                  <a:lnTo>
                    <a:pt x="262331" y="191008"/>
                  </a:lnTo>
                  <a:lnTo>
                    <a:pt x="311162" y="191008"/>
                  </a:lnTo>
                  <a:lnTo>
                    <a:pt x="280096" y="19558"/>
                  </a:lnTo>
                  <a:close/>
                </a:path>
                <a:path w="1282064" h="198120">
                  <a:moveTo>
                    <a:pt x="426440" y="5969"/>
                  </a:moveTo>
                  <a:lnTo>
                    <a:pt x="351739" y="5969"/>
                  </a:lnTo>
                  <a:lnTo>
                    <a:pt x="348263" y="188116"/>
                  </a:lnTo>
                  <a:lnTo>
                    <a:pt x="348208" y="191008"/>
                  </a:lnTo>
                  <a:lnTo>
                    <a:pt x="393509" y="191008"/>
                  </a:lnTo>
                  <a:lnTo>
                    <a:pt x="394659" y="22236"/>
                  </a:lnTo>
                  <a:lnTo>
                    <a:pt x="394677" y="19558"/>
                  </a:lnTo>
                  <a:lnTo>
                    <a:pt x="428651" y="19558"/>
                  </a:lnTo>
                  <a:lnTo>
                    <a:pt x="426440" y="5969"/>
                  </a:lnTo>
                  <a:close/>
                </a:path>
                <a:path w="1282064" h="198120">
                  <a:moveTo>
                    <a:pt x="428651" y="19558"/>
                  </a:moveTo>
                  <a:lnTo>
                    <a:pt x="394677" y="19558"/>
                  </a:lnTo>
                  <a:lnTo>
                    <a:pt x="426440" y="191008"/>
                  </a:lnTo>
                  <a:lnTo>
                    <a:pt x="472909" y="191008"/>
                  </a:lnTo>
                  <a:lnTo>
                    <a:pt x="480391" y="150622"/>
                  </a:lnTo>
                  <a:lnTo>
                    <a:pt x="449973" y="150622"/>
                  </a:lnTo>
                  <a:lnTo>
                    <a:pt x="428651" y="19558"/>
                  </a:lnTo>
                  <a:close/>
                </a:path>
                <a:path w="1282064" h="198120">
                  <a:moveTo>
                    <a:pt x="547913" y="19558"/>
                  </a:moveTo>
                  <a:lnTo>
                    <a:pt x="504672" y="19558"/>
                  </a:lnTo>
                  <a:lnTo>
                    <a:pt x="505833" y="188116"/>
                  </a:lnTo>
                  <a:lnTo>
                    <a:pt x="505853" y="191008"/>
                  </a:lnTo>
                  <a:lnTo>
                    <a:pt x="551726" y="191008"/>
                  </a:lnTo>
                  <a:lnTo>
                    <a:pt x="547973" y="22236"/>
                  </a:lnTo>
                  <a:lnTo>
                    <a:pt x="547913" y="19558"/>
                  </a:lnTo>
                  <a:close/>
                </a:path>
                <a:path w="1282064" h="198120">
                  <a:moveTo>
                    <a:pt x="547611" y="5969"/>
                  </a:moveTo>
                  <a:lnTo>
                    <a:pt x="472909" y="5969"/>
                  </a:lnTo>
                  <a:lnTo>
                    <a:pt x="449973" y="150622"/>
                  </a:lnTo>
                  <a:lnTo>
                    <a:pt x="480391" y="150622"/>
                  </a:lnTo>
                  <a:lnTo>
                    <a:pt x="504672" y="19558"/>
                  </a:lnTo>
                  <a:lnTo>
                    <a:pt x="547913" y="19558"/>
                  </a:lnTo>
                  <a:lnTo>
                    <a:pt x="547675" y="8860"/>
                  </a:lnTo>
                  <a:lnTo>
                    <a:pt x="547611" y="5969"/>
                  </a:lnTo>
                  <a:close/>
                </a:path>
                <a:path w="1282064" h="198120">
                  <a:moveTo>
                    <a:pt x="816419" y="5969"/>
                  </a:moveTo>
                  <a:lnTo>
                    <a:pt x="769950" y="5969"/>
                  </a:lnTo>
                  <a:lnTo>
                    <a:pt x="769950" y="148844"/>
                  </a:lnTo>
                  <a:lnTo>
                    <a:pt x="770534" y="150622"/>
                  </a:lnTo>
                  <a:lnTo>
                    <a:pt x="776987" y="172285"/>
                  </a:lnTo>
                  <a:lnTo>
                    <a:pt x="790822" y="186388"/>
                  </a:lnTo>
                  <a:lnTo>
                    <a:pt x="810382" y="194038"/>
                  </a:lnTo>
                  <a:lnTo>
                    <a:pt x="834008" y="196342"/>
                  </a:lnTo>
                  <a:lnTo>
                    <a:pt x="858031" y="194038"/>
                  </a:lnTo>
                  <a:lnTo>
                    <a:pt x="877792" y="186388"/>
                  </a:lnTo>
                  <a:lnTo>
                    <a:pt x="891694" y="172285"/>
                  </a:lnTo>
                  <a:lnTo>
                    <a:pt x="894438" y="163068"/>
                  </a:lnTo>
                  <a:lnTo>
                    <a:pt x="821689" y="163068"/>
                  </a:lnTo>
                  <a:lnTo>
                    <a:pt x="817600" y="154178"/>
                  </a:lnTo>
                  <a:lnTo>
                    <a:pt x="817078" y="150622"/>
                  </a:lnTo>
                  <a:lnTo>
                    <a:pt x="817003" y="150114"/>
                  </a:lnTo>
                  <a:lnTo>
                    <a:pt x="816419" y="147700"/>
                  </a:lnTo>
                  <a:lnTo>
                    <a:pt x="816419" y="5969"/>
                  </a:lnTo>
                  <a:close/>
                </a:path>
                <a:path w="1282064" h="198120">
                  <a:moveTo>
                    <a:pt x="898779" y="5969"/>
                  </a:moveTo>
                  <a:lnTo>
                    <a:pt x="852297" y="5969"/>
                  </a:lnTo>
                  <a:lnTo>
                    <a:pt x="852297" y="147700"/>
                  </a:lnTo>
                  <a:lnTo>
                    <a:pt x="851662" y="150114"/>
                  </a:lnTo>
                  <a:lnTo>
                    <a:pt x="851154" y="154178"/>
                  </a:lnTo>
                  <a:lnTo>
                    <a:pt x="846963" y="163068"/>
                  </a:lnTo>
                  <a:lnTo>
                    <a:pt x="894438" y="163068"/>
                  </a:lnTo>
                  <a:lnTo>
                    <a:pt x="898144" y="150622"/>
                  </a:lnTo>
                  <a:lnTo>
                    <a:pt x="898779" y="148844"/>
                  </a:lnTo>
                  <a:lnTo>
                    <a:pt x="898779" y="5969"/>
                  </a:lnTo>
                  <a:close/>
                </a:path>
                <a:path w="1282064" h="198120">
                  <a:moveTo>
                    <a:pt x="1216406" y="1143"/>
                  </a:moveTo>
                  <a:lnTo>
                    <a:pt x="1173718" y="11096"/>
                  </a:lnTo>
                  <a:lnTo>
                    <a:pt x="1152270" y="46862"/>
                  </a:lnTo>
                  <a:lnTo>
                    <a:pt x="1151636" y="49784"/>
                  </a:lnTo>
                  <a:lnTo>
                    <a:pt x="1151636" y="143002"/>
                  </a:lnTo>
                  <a:lnTo>
                    <a:pt x="1152146" y="147700"/>
                  </a:lnTo>
                  <a:lnTo>
                    <a:pt x="1152270" y="148844"/>
                  </a:lnTo>
                  <a:lnTo>
                    <a:pt x="1158970" y="170293"/>
                  </a:lnTo>
                  <a:lnTo>
                    <a:pt x="1173289" y="184419"/>
                  </a:lnTo>
                  <a:lnTo>
                    <a:pt x="1193133" y="192188"/>
                  </a:lnTo>
                  <a:lnTo>
                    <a:pt x="1216406" y="194564"/>
                  </a:lnTo>
                  <a:lnTo>
                    <a:pt x="1239972" y="192188"/>
                  </a:lnTo>
                  <a:lnTo>
                    <a:pt x="1259967" y="184419"/>
                  </a:lnTo>
                  <a:lnTo>
                    <a:pt x="1274341" y="170293"/>
                  </a:lnTo>
                  <a:lnTo>
                    <a:pt x="1277157" y="161290"/>
                  </a:lnTo>
                  <a:lnTo>
                    <a:pt x="1202817" y="161290"/>
                  </a:lnTo>
                  <a:lnTo>
                    <a:pt x="1198752" y="153035"/>
                  </a:lnTo>
                  <a:lnTo>
                    <a:pt x="1197609" y="147700"/>
                  </a:lnTo>
                  <a:lnTo>
                    <a:pt x="1197609" y="145923"/>
                  </a:lnTo>
                  <a:lnTo>
                    <a:pt x="1196975" y="143002"/>
                  </a:lnTo>
                  <a:lnTo>
                    <a:pt x="1197085" y="52832"/>
                  </a:lnTo>
                  <a:lnTo>
                    <a:pt x="1197609" y="50419"/>
                  </a:lnTo>
                  <a:lnTo>
                    <a:pt x="1198118" y="47498"/>
                  </a:lnTo>
                  <a:lnTo>
                    <a:pt x="1198656" y="43942"/>
                  </a:lnTo>
                  <a:lnTo>
                    <a:pt x="1198752" y="43307"/>
                  </a:lnTo>
                  <a:lnTo>
                    <a:pt x="1202817" y="34417"/>
                  </a:lnTo>
                  <a:lnTo>
                    <a:pt x="1277121" y="34417"/>
                  </a:lnTo>
                  <a:lnTo>
                    <a:pt x="1274212" y="25199"/>
                  </a:lnTo>
                  <a:lnTo>
                    <a:pt x="1274127" y="24931"/>
                  </a:lnTo>
                  <a:lnTo>
                    <a:pt x="1259776" y="10858"/>
                  </a:lnTo>
                  <a:lnTo>
                    <a:pt x="1240137" y="3446"/>
                  </a:lnTo>
                  <a:lnTo>
                    <a:pt x="1240848" y="3446"/>
                  </a:lnTo>
                  <a:lnTo>
                    <a:pt x="1216406" y="1143"/>
                  </a:lnTo>
                  <a:close/>
                </a:path>
                <a:path w="1282064" h="198120">
                  <a:moveTo>
                    <a:pt x="1281683" y="87249"/>
                  </a:moveTo>
                  <a:lnTo>
                    <a:pt x="1217040" y="87249"/>
                  </a:lnTo>
                  <a:lnTo>
                    <a:pt x="1217040" y="113919"/>
                  </a:lnTo>
                  <a:lnTo>
                    <a:pt x="1235837" y="113919"/>
                  </a:lnTo>
                  <a:lnTo>
                    <a:pt x="1235837" y="145923"/>
                  </a:lnTo>
                  <a:lnTo>
                    <a:pt x="1235202" y="147700"/>
                  </a:lnTo>
                  <a:lnTo>
                    <a:pt x="1234567" y="153035"/>
                  </a:lnTo>
                  <a:lnTo>
                    <a:pt x="1229868" y="161290"/>
                  </a:lnTo>
                  <a:lnTo>
                    <a:pt x="1277157" y="161290"/>
                  </a:lnTo>
                  <a:lnTo>
                    <a:pt x="1281049" y="148844"/>
                  </a:lnTo>
                  <a:lnTo>
                    <a:pt x="1281683" y="143002"/>
                  </a:lnTo>
                  <a:lnTo>
                    <a:pt x="1281683" y="87249"/>
                  </a:lnTo>
                  <a:close/>
                </a:path>
                <a:path w="1282064" h="198120">
                  <a:moveTo>
                    <a:pt x="1277121" y="34417"/>
                  </a:moveTo>
                  <a:lnTo>
                    <a:pt x="1230502" y="34417"/>
                  </a:lnTo>
                  <a:lnTo>
                    <a:pt x="1234058" y="43942"/>
                  </a:lnTo>
                  <a:lnTo>
                    <a:pt x="1234476" y="46862"/>
                  </a:lnTo>
                  <a:lnTo>
                    <a:pt x="1234567" y="47498"/>
                  </a:lnTo>
                  <a:lnTo>
                    <a:pt x="1235202" y="50419"/>
                  </a:lnTo>
                  <a:lnTo>
                    <a:pt x="1235202" y="65278"/>
                  </a:lnTo>
                  <a:lnTo>
                    <a:pt x="1281049" y="65278"/>
                  </a:lnTo>
                  <a:lnTo>
                    <a:pt x="1281049" y="58674"/>
                  </a:lnTo>
                  <a:lnTo>
                    <a:pt x="1281628" y="53340"/>
                  </a:lnTo>
                  <a:lnTo>
                    <a:pt x="1281683" y="52832"/>
                  </a:lnTo>
                  <a:lnTo>
                    <a:pt x="1281116" y="47498"/>
                  </a:lnTo>
                  <a:lnTo>
                    <a:pt x="1281049" y="46862"/>
                  </a:lnTo>
                  <a:lnTo>
                    <a:pt x="1277121" y="34417"/>
                  </a:lnTo>
                  <a:close/>
                </a:path>
              </a:pathLst>
            </a:custGeom>
            <a:solidFill>
              <a:srgbClr val="0923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5676" y="6141720"/>
              <a:ext cx="1371600" cy="44958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7804" y="1827276"/>
              <a:ext cx="3188970" cy="208407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0600" y="4354042"/>
              <a:ext cx="4219194" cy="34216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23900" y="4319015"/>
              <a:ext cx="55244" cy="361315"/>
            </a:xfrm>
            <a:custGeom>
              <a:avLst/>
              <a:gdLst/>
              <a:ahLst/>
              <a:cxnLst/>
              <a:rect l="l" t="t" r="r" b="b"/>
              <a:pathLst>
                <a:path w="55245" h="361314">
                  <a:moveTo>
                    <a:pt x="54864" y="0"/>
                  </a:moveTo>
                  <a:lnTo>
                    <a:pt x="0" y="0"/>
                  </a:lnTo>
                  <a:lnTo>
                    <a:pt x="0" y="361187"/>
                  </a:lnTo>
                  <a:lnTo>
                    <a:pt x="54864" y="361187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1328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2" cy="299732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350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89540" y="6525807"/>
            <a:ext cx="56974" cy="8301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6531" y="6510528"/>
            <a:ext cx="2044445" cy="16078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2791" y="2630423"/>
            <a:ext cx="7341870" cy="142113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0600" y="4530852"/>
            <a:ext cx="1261110" cy="2065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92124" y="2110714"/>
            <a:ext cx="1294638" cy="269011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719327" y="2095500"/>
            <a:ext cx="60960" cy="1945005"/>
          </a:xfrm>
          <a:custGeom>
            <a:avLst/>
            <a:gdLst/>
            <a:ahLst/>
            <a:cxnLst/>
            <a:rect l="l" t="t" r="r" b="b"/>
            <a:pathLst>
              <a:path w="60959" h="1945004">
                <a:moveTo>
                  <a:pt x="60959" y="0"/>
                </a:moveTo>
                <a:lnTo>
                  <a:pt x="0" y="0"/>
                </a:lnTo>
                <a:lnTo>
                  <a:pt x="0" y="1944624"/>
                </a:lnTo>
                <a:lnTo>
                  <a:pt x="60959" y="1944624"/>
                </a:lnTo>
                <a:lnTo>
                  <a:pt x="60959" y="0"/>
                </a:lnTo>
                <a:close/>
              </a:path>
            </a:pathLst>
          </a:custGeom>
          <a:solidFill>
            <a:srgbClr val="1328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19327" y="4480559"/>
            <a:ext cx="60960" cy="323215"/>
          </a:xfrm>
          <a:custGeom>
            <a:avLst/>
            <a:gdLst/>
            <a:ahLst/>
            <a:cxnLst/>
            <a:rect l="l" t="t" r="r" b="b"/>
            <a:pathLst>
              <a:path w="60959" h="323214">
                <a:moveTo>
                  <a:pt x="60959" y="0"/>
                </a:moveTo>
                <a:lnTo>
                  <a:pt x="0" y="0"/>
                </a:lnTo>
                <a:lnTo>
                  <a:pt x="0" y="323088"/>
                </a:lnTo>
                <a:lnTo>
                  <a:pt x="60959" y="323088"/>
                </a:lnTo>
                <a:lnTo>
                  <a:pt x="60959" y="0"/>
                </a:lnTo>
                <a:close/>
              </a:path>
            </a:pathLst>
          </a:custGeom>
          <a:solidFill>
            <a:srgbClr val="13289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350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93999" y="6525888"/>
            <a:ext cx="50989" cy="8446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531" y="6510528"/>
            <a:ext cx="2044445" cy="16078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7892" y="6533388"/>
            <a:ext cx="1677161" cy="104394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702944" y="1609725"/>
            <a:ext cx="8648065" cy="2140585"/>
            <a:chOff x="702944" y="1609725"/>
            <a:chExt cx="8648065" cy="2140585"/>
          </a:xfrm>
        </p:grpSpPr>
        <p:sp>
          <p:nvSpPr>
            <p:cNvPr id="7" name="object 7"/>
            <p:cNvSpPr/>
            <p:nvPr/>
          </p:nvSpPr>
          <p:spPr>
            <a:xfrm>
              <a:off x="712469" y="1619250"/>
              <a:ext cx="8629015" cy="2121535"/>
            </a:xfrm>
            <a:custGeom>
              <a:avLst/>
              <a:gdLst/>
              <a:ahLst/>
              <a:cxnLst/>
              <a:rect l="l" t="t" r="r" b="b"/>
              <a:pathLst>
                <a:path w="8629015" h="2121535">
                  <a:moveTo>
                    <a:pt x="0" y="2121408"/>
                  </a:moveTo>
                  <a:lnTo>
                    <a:pt x="8628888" y="2121408"/>
                  </a:lnTo>
                  <a:lnTo>
                    <a:pt x="8628888" y="0"/>
                  </a:lnTo>
                  <a:lnTo>
                    <a:pt x="0" y="0"/>
                  </a:lnTo>
                  <a:lnTo>
                    <a:pt x="0" y="2121408"/>
                  </a:lnTo>
                  <a:close/>
                </a:path>
              </a:pathLst>
            </a:custGeom>
            <a:ln w="19049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2583" y="1807463"/>
              <a:ext cx="8224266" cy="1727454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1708" y="1315211"/>
            <a:ext cx="1704594" cy="198882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403859" y="1249680"/>
            <a:ext cx="291465" cy="311150"/>
            <a:chOff x="403859" y="1249680"/>
            <a:chExt cx="291465" cy="311150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1959" y="1287780"/>
              <a:ext cx="214884" cy="23466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41959" y="1287780"/>
              <a:ext cx="215265" cy="234950"/>
            </a:xfrm>
            <a:custGeom>
              <a:avLst/>
              <a:gdLst/>
              <a:ahLst/>
              <a:cxnLst/>
              <a:rect l="l" t="t" r="r" b="b"/>
              <a:pathLst>
                <a:path w="215265" h="234950">
                  <a:moveTo>
                    <a:pt x="0" y="82550"/>
                  </a:moveTo>
                  <a:lnTo>
                    <a:pt x="23990" y="40512"/>
                  </a:lnTo>
                  <a:lnTo>
                    <a:pt x="83451" y="5715"/>
                  </a:lnTo>
                  <a:lnTo>
                    <a:pt x="107442" y="0"/>
                  </a:lnTo>
                  <a:lnTo>
                    <a:pt x="120224" y="1428"/>
                  </a:lnTo>
                  <a:lnTo>
                    <a:pt x="190893" y="40512"/>
                  </a:lnTo>
                  <a:lnTo>
                    <a:pt x="214884" y="82550"/>
                  </a:lnTo>
                  <a:lnTo>
                    <a:pt x="214884" y="152146"/>
                  </a:lnTo>
                  <a:lnTo>
                    <a:pt x="190893" y="194183"/>
                  </a:lnTo>
                  <a:lnTo>
                    <a:pt x="131432" y="228854"/>
                  </a:lnTo>
                  <a:lnTo>
                    <a:pt x="107442" y="234664"/>
                  </a:lnTo>
                  <a:lnTo>
                    <a:pt x="94659" y="233211"/>
                  </a:lnTo>
                  <a:lnTo>
                    <a:pt x="23990" y="194183"/>
                  </a:lnTo>
                  <a:lnTo>
                    <a:pt x="0" y="152146"/>
                  </a:lnTo>
                  <a:lnTo>
                    <a:pt x="0" y="82550"/>
                  </a:lnTo>
                  <a:close/>
                </a:path>
              </a:pathLst>
            </a:custGeom>
            <a:ln w="762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19327" y="4005071"/>
            <a:ext cx="1581149" cy="191262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411480" y="3931920"/>
            <a:ext cx="8939530" cy="1752600"/>
            <a:chOff x="411480" y="3931920"/>
            <a:chExt cx="8939530" cy="1752600"/>
          </a:xfrm>
        </p:grpSpPr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9580" y="3970020"/>
              <a:ext cx="216408" cy="23317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49580" y="3970020"/>
              <a:ext cx="216535" cy="233679"/>
            </a:xfrm>
            <a:custGeom>
              <a:avLst/>
              <a:gdLst/>
              <a:ahLst/>
              <a:cxnLst/>
              <a:rect l="l" t="t" r="r" b="b"/>
              <a:pathLst>
                <a:path w="216534" h="233679">
                  <a:moveTo>
                    <a:pt x="0" y="82041"/>
                  </a:moveTo>
                  <a:lnTo>
                    <a:pt x="24168" y="40258"/>
                  </a:lnTo>
                  <a:lnTo>
                    <a:pt x="84048" y="5714"/>
                  </a:lnTo>
                  <a:lnTo>
                    <a:pt x="108204" y="0"/>
                  </a:lnTo>
                  <a:lnTo>
                    <a:pt x="121074" y="1428"/>
                  </a:lnTo>
                  <a:lnTo>
                    <a:pt x="192239" y="40258"/>
                  </a:lnTo>
                  <a:lnTo>
                    <a:pt x="216408" y="82041"/>
                  </a:lnTo>
                  <a:lnTo>
                    <a:pt x="216408" y="151129"/>
                  </a:lnTo>
                  <a:lnTo>
                    <a:pt x="192239" y="192912"/>
                  </a:lnTo>
                  <a:lnTo>
                    <a:pt x="132359" y="227456"/>
                  </a:lnTo>
                  <a:lnTo>
                    <a:pt x="108204" y="233171"/>
                  </a:lnTo>
                  <a:lnTo>
                    <a:pt x="95333" y="231743"/>
                  </a:lnTo>
                  <a:lnTo>
                    <a:pt x="24168" y="192912"/>
                  </a:lnTo>
                  <a:lnTo>
                    <a:pt x="0" y="151129"/>
                  </a:lnTo>
                  <a:lnTo>
                    <a:pt x="0" y="82041"/>
                  </a:lnTo>
                  <a:close/>
                </a:path>
              </a:pathLst>
            </a:custGeom>
            <a:ln w="762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12470" y="4275582"/>
              <a:ext cx="8629015" cy="1399540"/>
            </a:xfrm>
            <a:custGeom>
              <a:avLst/>
              <a:gdLst/>
              <a:ahLst/>
              <a:cxnLst/>
              <a:rect l="l" t="t" r="r" b="b"/>
              <a:pathLst>
                <a:path w="8629015" h="1399539">
                  <a:moveTo>
                    <a:pt x="0" y="1399032"/>
                  </a:moveTo>
                  <a:lnTo>
                    <a:pt x="8628888" y="1399032"/>
                  </a:lnTo>
                  <a:lnTo>
                    <a:pt x="8628888" y="0"/>
                  </a:lnTo>
                  <a:lnTo>
                    <a:pt x="0" y="0"/>
                  </a:lnTo>
                  <a:lnTo>
                    <a:pt x="0" y="1399032"/>
                  </a:lnTo>
                  <a:close/>
                </a:path>
              </a:pathLst>
            </a:custGeom>
            <a:ln w="19050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7150" y="4442447"/>
              <a:ext cx="5808731" cy="1032522"/>
            </a:xfrm>
            <a:prstGeom prst="rect">
              <a:avLst/>
            </a:prstGeom>
          </p:spPr>
        </p:pic>
      </p:grpSp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2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120" dirty="0">
                <a:solidFill>
                  <a:srgbClr val="002E8E"/>
                </a:solidFill>
                <a:latin typeface="Arial"/>
                <a:cs typeface="Arial"/>
              </a:rPr>
              <a:t>Chapter</a:t>
            </a:r>
            <a:r>
              <a:rPr sz="2400" b="1" spc="-70" dirty="0">
                <a:solidFill>
                  <a:srgbClr val="002E8E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2E8E"/>
                </a:solidFill>
                <a:latin typeface="Arial"/>
                <a:cs typeface="Arial"/>
              </a:rPr>
              <a:t>Description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16452" y="630936"/>
            <a:ext cx="5833110" cy="0"/>
          </a:xfrm>
          <a:custGeom>
            <a:avLst/>
            <a:gdLst/>
            <a:ahLst/>
            <a:cxnLst/>
            <a:rect l="l" t="t" r="r" b="b"/>
            <a:pathLst>
              <a:path w="5833109">
                <a:moveTo>
                  <a:pt x="0" y="0"/>
                </a:moveTo>
                <a:lnTo>
                  <a:pt x="5832602" y="0"/>
                </a:lnTo>
              </a:path>
            </a:pathLst>
          </a:custGeom>
          <a:ln w="12700">
            <a:solidFill>
              <a:srgbClr val="1328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2" cy="299732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350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8039" y="6525807"/>
            <a:ext cx="149998" cy="8301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6531" y="6510528"/>
            <a:ext cx="2044445" cy="16078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17892" y="6533388"/>
            <a:ext cx="1677161" cy="10439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6696" y="3182111"/>
            <a:ext cx="8023098" cy="99288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96696" y="2776727"/>
            <a:ext cx="656081" cy="21717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21080" y="4642103"/>
            <a:ext cx="3065525" cy="105232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687823" y="4643602"/>
            <a:ext cx="4030218" cy="6500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87321" y="6524444"/>
            <a:ext cx="157668" cy="8590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531" y="6510528"/>
            <a:ext cx="2044445" cy="1607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7892" y="6533388"/>
            <a:ext cx="1677161" cy="10439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0248" y="1409687"/>
            <a:ext cx="2983229" cy="33910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0851" y="2401811"/>
            <a:ext cx="8381238" cy="66066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22275"/>
            <a:ext cx="2976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1.4.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NumPy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Indexing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Slicing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12530" y="456056"/>
            <a:ext cx="668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Calibri"/>
                <a:cs typeface="Calibri"/>
              </a:rPr>
              <a:t>UNIT</a:t>
            </a:r>
            <a:r>
              <a:rPr sz="1600" spc="-4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600" b="1" spc="-114" dirty="0">
                <a:solidFill>
                  <a:srgbClr val="D9D9D9"/>
                </a:solidFill>
                <a:latin typeface="Arial"/>
                <a:cs typeface="Arial"/>
              </a:rPr>
              <a:t>01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63796" y="3378708"/>
            <a:ext cx="758189" cy="203453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3447288" y="4027932"/>
            <a:ext cx="672465" cy="1545590"/>
            <a:chOff x="3447288" y="4027932"/>
            <a:chExt cx="672465" cy="1545590"/>
          </a:xfrm>
        </p:grpSpPr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47288" y="4027932"/>
              <a:ext cx="672084" cy="154533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41420" y="4175760"/>
              <a:ext cx="80010" cy="1213865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453384" y="3709415"/>
            <a:ext cx="659129" cy="145542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593085" y="5411748"/>
            <a:ext cx="622548" cy="137897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5565647" y="3672840"/>
            <a:ext cx="672465" cy="1678305"/>
            <a:chOff x="5565647" y="3672840"/>
            <a:chExt cx="672465" cy="1678305"/>
          </a:xfrm>
        </p:grpSpPr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565647" y="3672840"/>
              <a:ext cx="672084" cy="167792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832347" y="3813048"/>
              <a:ext cx="137922" cy="1210818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76072" y="1879079"/>
            <a:ext cx="8180070" cy="4076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0325" y="6524444"/>
            <a:ext cx="156188" cy="8590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531" y="6510528"/>
            <a:ext cx="2044445" cy="1607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7892" y="6533388"/>
            <a:ext cx="1677161" cy="10439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22275"/>
            <a:ext cx="2976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1.4.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NumPy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Indexing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Slicing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12530" y="456056"/>
            <a:ext cx="668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Calibri"/>
                <a:cs typeface="Calibri"/>
              </a:rPr>
              <a:t>UNIT</a:t>
            </a:r>
            <a:r>
              <a:rPr sz="1600" spc="-4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600" b="1" spc="-114" dirty="0">
                <a:solidFill>
                  <a:srgbClr val="D9D9D9"/>
                </a:solidFill>
                <a:latin typeface="Arial"/>
                <a:cs typeface="Arial"/>
              </a:rPr>
              <a:t>01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54608" y="2057273"/>
            <a:ext cx="8789670" cy="2374900"/>
            <a:chOff x="554608" y="2057273"/>
            <a:chExt cx="8789670" cy="2374900"/>
          </a:xfrm>
        </p:grpSpPr>
        <p:sp>
          <p:nvSpPr>
            <p:cNvPr id="8" name="object 8"/>
            <p:cNvSpPr/>
            <p:nvPr/>
          </p:nvSpPr>
          <p:spPr>
            <a:xfrm>
              <a:off x="557783" y="2060448"/>
              <a:ext cx="8783320" cy="2368550"/>
            </a:xfrm>
            <a:custGeom>
              <a:avLst/>
              <a:gdLst/>
              <a:ahLst/>
              <a:cxnLst/>
              <a:rect l="l" t="t" r="r" b="b"/>
              <a:pathLst>
                <a:path w="8783320" h="2368550">
                  <a:moveTo>
                    <a:pt x="0" y="2368296"/>
                  </a:moveTo>
                  <a:lnTo>
                    <a:pt x="8782812" y="2368296"/>
                  </a:lnTo>
                  <a:lnTo>
                    <a:pt x="8782812" y="0"/>
                  </a:lnTo>
                  <a:lnTo>
                    <a:pt x="0" y="0"/>
                  </a:lnTo>
                  <a:lnTo>
                    <a:pt x="0" y="2368296"/>
                  </a:lnTo>
                  <a:close/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8555" y="2122932"/>
              <a:ext cx="8702040" cy="2170176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6072" y="1424939"/>
            <a:ext cx="784097" cy="19583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0851" y="1766316"/>
            <a:ext cx="4572762" cy="16535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B87A21-5F02-926A-98CC-815721F08A6B}"/>
              </a:ext>
            </a:extLst>
          </p:cNvPr>
          <p:cNvSpPr txBox="1"/>
          <p:nvPr/>
        </p:nvSpPr>
        <p:spPr>
          <a:xfrm>
            <a:off x="876300" y="1143000"/>
            <a:ext cx="81534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Program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import </a:t>
            </a:r>
            <a:r>
              <a:rPr lang="en-US" dirty="0" err="1">
                <a:latin typeface="Courier New" panose="02070309020205020404" pitchFamily="49" charset="0"/>
              </a:rPr>
              <a:t>numpy</a:t>
            </a:r>
            <a:r>
              <a:rPr lang="en-US" dirty="0">
                <a:latin typeface="Courier New" panose="02070309020205020404" pitchFamily="49" charset="0"/>
              </a:rPr>
              <a:t> as np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# Create a 1D array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a = </a:t>
            </a:r>
            <a:r>
              <a:rPr lang="en-US" dirty="0" err="1">
                <a:latin typeface="Courier New" panose="02070309020205020404" pitchFamily="49" charset="0"/>
              </a:rPr>
              <a:t>np.array</a:t>
            </a:r>
            <a:r>
              <a:rPr lang="en-US" dirty="0">
                <a:latin typeface="Courier New" panose="02070309020205020404" pitchFamily="49" charset="0"/>
              </a:rPr>
              <a:t>([0, 1, 2, 3])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# Create a 2D array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b = </a:t>
            </a:r>
            <a:r>
              <a:rPr lang="en-US" dirty="0" err="1">
                <a:latin typeface="Courier New" panose="02070309020205020404" pitchFamily="49" charset="0"/>
              </a:rPr>
              <a:t>np.array</a:t>
            </a:r>
            <a:r>
              <a:rPr lang="en-US" dirty="0">
                <a:latin typeface="Courier New" panose="02070309020205020404" pitchFamily="49" charset="0"/>
              </a:rPr>
              <a:t>([[0, 1, 2, 3],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      [4, 5, 6, 7],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      [8, 9, 10, 11]])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# Access the first element of array 'a'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print(a[0])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50834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5084" y="6524444"/>
            <a:ext cx="169905" cy="8590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531" y="6510528"/>
            <a:ext cx="2044445" cy="1607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7892" y="6533388"/>
            <a:ext cx="1677161" cy="104394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1.4.</a:t>
            </a:r>
            <a:r>
              <a:rPr spc="-50" dirty="0"/>
              <a:t> </a:t>
            </a:r>
            <a:r>
              <a:rPr dirty="0"/>
              <a:t>NumPy</a:t>
            </a:r>
            <a:r>
              <a:rPr spc="-45" dirty="0"/>
              <a:t> </a:t>
            </a:r>
            <a:r>
              <a:rPr dirty="0"/>
              <a:t>Indexing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Slicing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812530" y="456056"/>
            <a:ext cx="668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Calibri"/>
                <a:cs typeface="Calibri"/>
              </a:rPr>
              <a:t>UNIT</a:t>
            </a:r>
            <a:r>
              <a:rPr sz="1600" spc="-4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600" b="1" spc="-114" dirty="0">
                <a:solidFill>
                  <a:srgbClr val="D9D9D9"/>
                </a:solidFill>
                <a:latin typeface="Arial"/>
                <a:cs typeface="Arial"/>
              </a:rPr>
              <a:t>01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7" name="object 7" descr="Byte - Free electronics icons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5176" y="3844759"/>
            <a:ext cx="215406" cy="21035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57783" y="3735323"/>
            <a:ext cx="8781415" cy="711835"/>
          </a:xfrm>
          <a:prstGeom prst="rect">
            <a:avLst/>
          </a:prstGeom>
          <a:ln w="6350">
            <a:solidFill>
              <a:srgbClr val="D9D9D9"/>
            </a:solidFill>
          </a:ln>
        </p:spPr>
        <p:txBody>
          <a:bodyPr vert="horz" wrap="square" lIns="0" tIns="107314" rIns="0" bIns="0" rtlCol="0">
            <a:spAutoFit/>
          </a:bodyPr>
          <a:lstStyle/>
          <a:p>
            <a:pPr marL="454659">
              <a:lnSpc>
                <a:spcPct val="100000"/>
              </a:lnSpc>
              <a:spcBef>
                <a:spcPts val="844"/>
              </a:spcBef>
            </a:pPr>
            <a:r>
              <a:rPr sz="1300" b="1" spc="-60" dirty="0">
                <a:solidFill>
                  <a:srgbClr val="252525"/>
                </a:solidFill>
                <a:latin typeface="Trebuchet MS"/>
                <a:cs typeface="Trebuchet MS"/>
              </a:rPr>
              <a:t>Line</a:t>
            </a:r>
            <a:r>
              <a:rPr sz="1300" b="1" spc="-114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b="1" spc="-50" dirty="0">
                <a:solidFill>
                  <a:srgbClr val="252525"/>
                </a:solidFill>
                <a:latin typeface="Trebuchet MS"/>
                <a:cs typeface="Trebuchet MS"/>
              </a:rPr>
              <a:t>5</a:t>
            </a:r>
            <a:endParaRPr sz="1300">
              <a:latin typeface="Trebuchet MS"/>
              <a:cs typeface="Trebuchet MS"/>
            </a:endParaRPr>
          </a:p>
          <a:p>
            <a:pPr marL="647065" indent="-182880">
              <a:lnSpc>
                <a:spcPct val="100000"/>
              </a:lnSpc>
              <a:spcBef>
                <a:spcPts val="715"/>
              </a:spcBef>
              <a:buFont typeface="Arial MT"/>
              <a:buChar char="•"/>
              <a:tabLst>
                <a:tab pos="647065" algn="l"/>
              </a:tabLst>
            </a:pPr>
            <a:r>
              <a:rPr sz="1300" spc="-20" dirty="0">
                <a:solidFill>
                  <a:srgbClr val="252525"/>
                </a:solidFill>
                <a:latin typeface="Trebuchet MS"/>
                <a:cs typeface="Trebuchet MS"/>
              </a:rPr>
              <a:t>Can</a:t>
            </a:r>
            <a:r>
              <a:rPr sz="1300" spc="-8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252525"/>
                </a:solidFill>
                <a:latin typeface="Trebuchet MS"/>
                <a:cs typeface="Trebuchet MS"/>
              </a:rPr>
              <a:t>access</a:t>
            </a:r>
            <a:r>
              <a:rPr sz="1300" spc="-6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252525"/>
                </a:solidFill>
                <a:latin typeface="Trebuchet MS"/>
                <a:cs typeface="Trebuchet MS"/>
              </a:rPr>
              <a:t>one</a:t>
            </a:r>
            <a:r>
              <a:rPr sz="1300" spc="-9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5" dirty="0">
                <a:solidFill>
                  <a:srgbClr val="252525"/>
                </a:solidFill>
                <a:latin typeface="Trebuchet MS"/>
                <a:cs typeface="Trebuchet MS"/>
              </a:rPr>
              <a:t>specific</a:t>
            </a:r>
            <a:r>
              <a:rPr sz="1300" spc="-8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252525"/>
                </a:solidFill>
                <a:latin typeface="Trebuchet MS"/>
                <a:cs typeface="Trebuchet MS"/>
              </a:rPr>
              <a:t>multi-dimensional</a:t>
            </a:r>
            <a:r>
              <a:rPr sz="13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252525"/>
                </a:solidFill>
                <a:latin typeface="Trebuchet MS"/>
                <a:cs typeface="Trebuchet MS"/>
              </a:rPr>
              <a:t>value.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54608" y="2057273"/>
            <a:ext cx="8789670" cy="1574800"/>
            <a:chOff x="554608" y="2057273"/>
            <a:chExt cx="8789670" cy="1574800"/>
          </a:xfrm>
        </p:grpSpPr>
        <p:sp>
          <p:nvSpPr>
            <p:cNvPr id="10" name="object 10"/>
            <p:cNvSpPr/>
            <p:nvPr/>
          </p:nvSpPr>
          <p:spPr>
            <a:xfrm>
              <a:off x="557783" y="2060448"/>
              <a:ext cx="8783320" cy="1568450"/>
            </a:xfrm>
            <a:custGeom>
              <a:avLst/>
              <a:gdLst/>
              <a:ahLst/>
              <a:cxnLst/>
              <a:rect l="l" t="t" r="r" b="b"/>
              <a:pathLst>
                <a:path w="8783320" h="1568450">
                  <a:moveTo>
                    <a:pt x="0" y="1568195"/>
                  </a:moveTo>
                  <a:lnTo>
                    <a:pt x="8782812" y="1568195"/>
                  </a:lnTo>
                  <a:lnTo>
                    <a:pt x="8782812" y="0"/>
                  </a:lnTo>
                  <a:lnTo>
                    <a:pt x="0" y="0"/>
                  </a:lnTo>
                  <a:lnTo>
                    <a:pt x="0" y="1568195"/>
                  </a:lnTo>
                  <a:close/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8360" y="2125514"/>
              <a:ext cx="8567037" cy="1441448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6072" y="1424939"/>
            <a:ext cx="784097" cy="19583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0851" y="1766316"/>
            <a:ext cx="5007102" cy="16535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D913A1D-B755-1F3D-FBC4-48EA0D677BC7}"/>
              </a:ext>
            </a:extLst>
          </p:cNvPr>
          <p:cNvSpPr txBox="1"/>
          <p:nvPr/>
        </p:nvSpPr>
        <p:spPr>
          <a:xfrm>
            <a:off x="4800600" y="1997301"/>
            <a:ext cx="4955822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# Access the first row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print(b[0])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# Access the second element of the first row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print(b[0][1])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[0 1 2 3]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3376" y="6524364"/>
            <a:ext cx="142470" cy="8446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531" y="6510528"/>
            <a:ext cx="2044445" cy="1607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7892" y="6533388"/>
            <a:ext cx="1677161" cy="10439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22275"/>
            <a:ext cx="2976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1.4.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NumPy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Indexing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Slicing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12530" y="456056"/>
            <a:ext cx="668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Calibri"/>
                <a:cs typeface="Calibri"/>
              </a:rPr>
              <a:t>UNIT</a:t>
            </a:r>
            <a:r>
              <a:rPr sz="1600" spc="-4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600" b="1" spc="-114" dirty="0">
                <a:solidFill>
                  <a:srgbClr val="D9D9D9"/>
                </a:solidFill>
                <a:latin typeface="Arial"/>
                <a:cs typeface="Arial"/>
              </a:rPr>
              <a:t>01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54608" y="2793364"/>
            <a:ext cx="8789670" cy="782320"/>
            <a:chOff x="554608" y="2793364"/>
            <a:chExt cx="8789670" cy="782320"/>
          </a:xfrm>
        </p:grpSpPr>
        <p:sp>
          <p:nvSpPr>
            <p:cNvPr id="8" name="object 8"/>
            <p:cNvSpPr/>
            <p:nvPr/>
          </p:nvSpPr>
          <p:spPr>
            <a:xfrm>
              <a:off x="557783" y="2796539"/>
              <a:ext cx="8783320" cy="775970"/>
            </a:xfrm>
            <a:custGeom>
              <a:avLst/>
              <a:gdLst/>
              <a:ahLst/>
              <a:cxnLst/>
              <a:rect l="l" t="t" r="r" b="b"/>
              <a:pathLst>
                <a:path w="8783320" h="775970">
                  <a:moveTo>
                    <a:pt x="0" y="775715"/>
                  </a:moveTo>
                  <a:lnTo>
                    <a:pt x="8782812" y="775715"/>
                  </a:lnTo>
                  <a:lnTo>
                    <a:pt x="8782812" y="0"/>
                  </a:lnTo>
                  <a:lnTo>
                    <a:pt x="0" y="0"/>
                  </a:lnTo>
                  <a:lnTo>
                    <a:pt x="0" y="775715"/>
                  </a:lnTo>
                  <a:close/>
                </a:path>
              </a:pathLst>
            </a:custGeom>
            <a:ln w="6349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1190" y="2850908"/>
              <a:ext cx="8534249" cy="659656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6072" y="1424939"/>
            <a:ext cx="784097" cy="19583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0851" y="1767783"/>
            <a:ext cx="8279130" cy="85578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F4886A1-CD73-46B1-A568-FD5F9E889400}"/>
              </a:ext>
            </a:extLst>
          </p:cNvPr>
          <p:cNvSpPr txBox="1"/>
          <p:nvPr/>
        </p:nvSpPr>
        <p:spPr>
          <a:xfrm>
            <a:off x="1066800" y="4025856"/>
            <a:ext cx="71628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# Access an element using comma indexing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print(b[0,1])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84229" y="6524364"/>
            <a:ext cx="160760" cy="8446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531" y="6510528"/>
            <a:ext cx="2044445" cy="1607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7892" y="6533388"/>
            <a:ext cx="1677161" cy="10439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22275"/>
            <a:ext cx="2976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1.4.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NumPy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Indexing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Slicing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12530" y="456056"/>
            <a:ext cx="668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Calibri"/>
                <a:cs typeface="Calibri"/>
              </a:rPr>
              <a:t>UNIT</a:t>
            </a:r>
            <a:r>
              <a:rPr sz="1600" spc="-4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600" b="1" spc="-114" dirty="0">
                <a:solidFill>
                  <a:srgbClr val="D9D9D9"/>
                </a:solidFill>
                <a:latin typeface="Arial"/>
                <a:cs typeface="Arial"/>
              </a:rPr>
              <a:t>01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54608" y="2243201"/>
            <a:ext cx="8789670" cy="2251710"/>
            <a:chOff x="554608" y="2243201"/>
            <a:chExt cx="8789670" cy="2251710"/>
          </a:xfrm>
        </p:grpSpPr>
        <p:sp>
          <p:nvSpPr>
            <p:cNvPr id="8" name="object 8"/>
            <p:cNvSpPr/>
            <p:nvPr/>
          </p:nvSpPr>
          <p:spPr>
            <a:xfrm>
              <a:off x="557783" y="2246376"/>
              <a:ext cx="8783320" cy="2245360"/>
            </a:xfrm>
            <a:custGeom>
              <a:avLst/>
              <a:gdLst/>
              <a:ahLst/>
              <a:cxnLst/>
              <a:rect l="l" t="t" r="r" b="b"/>
              <a:pathLst>
                <a:path w="8783320" h="2245360">
                  <a:moveTo>
                    <a:pt x="0" y="2244852"/>
                  </a:moveTo>
                  <a:lnTo>
                    <a:pt x="8782812" y="2244852"/>
                  </a:lnTo>
                  <a:lnTo>
                    <a:pt x="8782812" y="0"/>
                  </a:lnTo>
                  <a:lnTo>
                    <a:pt x="0" y="0"/>
                  </a:lnTo>
                  <a:lnTo>
                    <a:pt x="0" y="2244852"/>
                  </a:lnTo>
                  <a:close/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8499" y="2320457"/>
              <a:ext cx="8474608" cy="2053979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6072" y="1424939"/>
            <a:ext cx="784097" cy="19583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0851" y="1764792"/>
            <a:ext cx="7913370" cy="3314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33E8A0-ADDF-A828-9D75-132524F79FF2}"/>
              </a:ext>
            </a:extLst>
          </p:cNvPr>
          <p:cNvSpPr txBox="1"/>
          <p:nvPr/>
        </p:nvSpPr>
        <p:spPr>
          <a:xfrm>
            <a:off x="685800" y="1219200"/>
            <a:ext cx="674793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# Create a 1D array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a1 = </a:t>
            </a:r>
            <a:r>
              <a:rPr lang="en-US" dirty="0" err="1">
                <a:latin typeface="Courier New" panose="02070309020205020404" pitchFamily="49" charset="0"/>
              </a:rPr>
              <a:t>np.array</a:t>
            </a:r>
            <a:r>
              <a:rPr lang="en-US" dirty="0">
                <a:latin typeface="Courier New" panose="02070309020205020404" pitchFamily="49" charset="0"/>
              </a:rPr>
              <a:t>([0, 10, 20, 30, 40, 50])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# Display the value at index 5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print(a1[5])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# Change the value at index 5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a1[5] = 70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# Display the updated array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print(a1)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50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[ 0 10 20 30 40 70]</a:t>
            </a:r>
          </a:p>
        </p:txBody>
      </p:sp>
    </p:spTree>
    <p:extLst>
      <p:ext uri="{BB962C8B-B14F-4D97-AF65-F5344CB8AC3E}">
        <p14:creationId xmlns:p14="http://schemas.microsoft.com/office/powerpoint/2010/main" val="864714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81223" y="6524444"/>
            <a:ext cx="162242" cy="8590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531" y="6510528"/>
            <a:ext cx="2044445" cy="1607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7892" y="6533388"/>
            <a:ext cx="1677161" cy="104394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1.4.</a:t>
            </a:r>
            <a:r>
              <a:rPr spc="-50" dirty="0"/>
              <a:t> </a:t>
            </a:r>
            <a:r>
              <a:rPr dirty="0"/>
              <a:t>NumPy</a:t>
            </a:r>
            <a:r>
              <a:rPr spc="-45" dirty="0"/>
              <a:t> </a:t>
            </a:r>
            <a:r>
              <a:rPr dirty="0"/>
              <a:t>Indexing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Slicing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812530" y="456056"/>
            <a:ext cx="668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Calibri"/>
                <a:cs typeface="Calibri"/>
              </a:rPr>
              <a:t>UNIT</a:t>
            </a:r>
            <a:r>
              <a:rPr sz="1600" spc="-4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600" b="1" spc="-114" dirty="0">
                <a:solidFill>
                  <a:srgbClr val="D9D9D9"/>
                </a:solidFill>
                <a:latin typeface="Arial"/>
                <a:cs typeface="Arial"/>
              </a:rPr>
              <a:t>01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7" name="object 7" descr="Byte - Free electronics icons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4516" y="4071658"/>
            <a:ext cx="217122" cy="20900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57783" y="3960876"/>
            <a:ext cx="8781415" cy="711835"/>
          </a:xfrm>
          <a:prstGeom prst="rect">
            <a:avLst/>
          </a:prstGeom>
          <a:ln w="6350">
            <a:solidFill>
              <a:srgbClr val="D9D9D9"/>
            </a:solidFill>
          </a:ln>
        </p:spPr>
        <p:txBody>
          <a:bodyPr vert="horz" wrap="square" lIns="0" tIns="107950" rIns="0" bIns="0" rtlCol="0">
            <a:spAutoFit/>
          </a:bodyPr>
          <a:lstStyle/>
          <a:p>
            <a:pPr marL="454659">
              <a:lnSpc>
                <a:spcPct val="100000"/>
              </a:lnSpc>
              <a:spcBef>
                <a:spcPts val="850"/>
              </a:spcBef>
            </a:pPr>
            <a:r>
              <a:rPr sz="1300" b="1" spc="-60" dirty="0">
                <a:solidFill>
                  <a:srgbClr val="252525"/>
                </a:solidFill>
                <a:latin typeface="Trebuchet MS"/>
                <a:cs typeface="Trebuchet MS"/>
              </a:rPr>
              <a:t>Line</a:t>
            </a:r>
            <a:r>
              <a:rPr sz="1300" b="1" spc="-114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b="1" spc="-25" dirty="0">
                <a:solidFill>
                  <a:srgbClr val="252525"/>
                </a:solidFill>
                <a:latin typeface="Trebuchet MS"/>
                <a:cs typeface="Trebuchet MS"/>
              </a:rPr>
              <a:t>10</a:t>
            </a:r>
            <a:endParaRPr sz="1300">
              <a:latin typeface="Trebuchet MS"/>
              <a:cs typeface="Trebuchet MS"/>
            </a:endParaRPr>
          </a:p>
          <a:p>
            <a:pPr marL="647065" indent="-18288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647065" algn="l"/>
              </a:tabLst>
            </a:pPr>
            <a:r>
              <a:rPr sz="1300" dirty="0">
                <a:solidFill>
                  <a:srgbClr val="252525"/>
                </a:solidFill>
                <a:latin typeface="Trebuchet MS"/>
                <a:cs typeface="Trebuchet MS"/>
              </a:rPr>
              <a:t>Elements</a:t>
            </a:r>
            <a:r>
              <a:rPr sz="1300" spc="-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80" dirty="0">
                <a:solidFill>
                  <a:srgbClr val="252525"/>
                </a:solidFill>
                <a:latin typeface="Trebuchet MS"/>
                <a:cs typeface="Trebuchet MS"/>
              </a:rPr>
              <a:t>10,</a:t>
            </a:r>
            <a:r>
              <a:rPr sz="1300" spc="-8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30" dirty="0">
                <a:solidFill>
                  <a:srgbClr val="252525"/>
                </a:solidFill>
                <a:latin typeface="Trebuchet MS"/>
                <a:cs typeface="Trebuchet MS"/>
              </a:rPr>
              <a:t>30,</a:t>
            </a:r>
            <a:r>
              <a:rPr sz="1300" spc="-7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252525"/>
                </a:solidFill>
                <a:latin typeface="Trebuchet MS"/>
                <a:cs typeface="Trebuchet MS"/>
              </a:rPr>
              <a:t>and</a:t>
            </a:r>
            <a:r>
              <a:rPr sz="1300" spc="-6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65" dirty="0">
                <a:solidFill>
                  <a:srgbClr val="252525"/>
                </a:solidFill>
                <a:latin typeface="Trebuchet MS"/>
                <a:cs typeface="Trebuchet MS"/>
              </a:rPr>
              <a:t>40</a:t>
            </a:r>
            <a:r>
              <a:rPr sz="1300" spc="-7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5" dirty="0">
                <a:solidFill>
                  <a:srgbClr val="252525"/>
                </a:solidFill>
                <a:latin typeface="Trebuchet MS"/>
                <a:cs typeface="Trebuchet MS"/>
              </a:rPr>
              <a:t>located</a:t>
            </a:r>
            <a:r>
              <a:rPr sz="1300" spc="-7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40" dirty="0">
                <a:solidFill>
                  <a:srgbClr val="252525"/>
                </a:solidFill>
                <a:latin typeface="Trebuchet MS"/>
                <a:cs typeface="Trebuchet MS"/>
              </a:rPr>
              <a:t>at</a:t>
            </a:r>
            <a:r>
              <a:rPr sz="1300" spc="-7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252525"/>
                </a:solidFill>
                <a:latin typeface="Trebuchet MS"/>
                <a:cs typeface="Trebuchet MS"/>
              </a:rPr>
              <a:t>positions</a:t>
            </a:r>
            <a:r>
              <a:rPr sz="1300" spc="-9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60" dirty="0">
                <a:solidFill>
                  <a:srgbClr val="252525"/>
                </a:solidFill>
                <a:latin typeface="Trebuchet MS"/>
                <a:cs typeface="Trebuchet MS"/>
              </a:rPr>
              <a:t>1,</a:t>
            </a:r>
            <a:r>
              <a:rPr sz="1300" spc="-7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90" dirty="0">
                <a:solidFill>
                  <a:srgbClr val="252525"/>
                </a:solidFill>
                <a:latin typeface="Trebuchet MS"/>
                <a:cs typeface="Trebuchet MS"/>
              </a:rPr>
              <a:t>3,</a:t>
            </a:r>
            <a:r>
              <a:rPr sz="1300" spc="-8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252525"/>
                </a:solidFill>
                <a:latin typeface="Trebuchet MS"/>
                <a:cs typeface="Trebuchet MS"/>
              </a:rPr>
              <a:t>and</a:t>
            </a:r>
            <a:r>
              <a:rPr sz="1300" spc="-8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252525"/>
                </a:solidFill>
                <a:latin typeface="Trebuchet MS"/>
                <a:cs typeface="Trebuchet MS"/>
              </a:rPr>
              <a:t>4</a:t>
            </a:r>
            <a:r>
              <a:rPr sz="1300" spc="-7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5" dirty="0">
                <a:solidFill>
                  <a:srgbClr val="252525"/>
                </a:solidFill>
                <a:latin typeface="Trebuchet MS"/>
                <a:cs typeface="Trebuchet MS"/>
              </a:rPr>
              <a:t>were</a:t>
            </a:r>
            <a:r>
              <a:rPr sz="1300" spc="-8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0" dirty="0">
                <a:solidFill>
                  <a:srgbClr val="252525"/>
                </a:solidFill>
                <a:latin typeface="Trebuchet MS"/>
                <a:cs typeface="Trebuchet MS"/>
              </a:rPr>
              <a:t>taken</a:t>
            </a:r>
            <a:r>
              <a:rPr sz="1300" spc="-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252525"/>
                </a:solidFill>
                <a:latin typeface="Trebuchet MS"/>
                <a:cs typeface="Trebuchet MS"/>
              </a:rPr>
              <a:t>from</a:t>
            </a:r>
            <a:r>
              <a:rPr sz="1300" spc="-9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5" dirty="0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sz="1300" spc="-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252525"/>
                </a:solidFill>
                <a:latin typeface="Trebuchet MS"/>
                <a:cs typeface="Trebuchet MS"/>
              </a:rPr>
              <a:t>one-</a:t>
            </a:r>
            <a:r>
              <a:rPr sz="1300" spc="-10" dirty="0">
                <a:solidFill>
                  <a:srgbClr val="252525"/>
                </a:solidFill>
                <a:latin typeface="Trebuchet MS"/>
                <a:cs typeface="Trebuchet MS"/>
              </a:rPr>
              <a:t>dimensional</a:t>
            </a:r>
            <a:r>
              <a:rPr sz="1300" spc="-7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252525"/>
                </a:solidFill>
                <a:latin typeface="Trebuchet MS"/>
                <a:cs typeface="Trebuchet MS"/>
              </a:rPr>
              <a:t>array</a:t>
            </a:r>
            <a:r>
              <a:rPr sz="1300" spc="-8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5" dirty="0">
                <a:solidFill>
                  <a:srgbClr val="252525"/>
                </a:solidFill>
                <a:latin typeface="Trebuchet MS"/>
                <a:cs typeface="Trebuchet MS"/>
              </a:rPr>
              <a:t>a1.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54608" y="2994532"/>
            <a:ext cx="8789670" cy="869315"/>
            <a:chOff x="554608" y="2994532"/>
            <a:chExt cx="8789670" cy="869315"/>
          </a:xfrm>
        </p:grpSpPr>
        <p:sp>
          <p:nvSpPr>
            <p:cNvPr id="10" name="object 10"/>
            <p:cNvSpPr/>
            <p:nvPr/>
          </p:nvSpPr>
          <p:spPr>
            <a:xfrm>
              <a:off x="557783" y="2997707"/>
              <a:ext cx="8783320" cy="862965"/>
            </a:xfrm>
            <a:custGeom>
              <a:avLst/>
              <a:gdLst/>
              <a:ahLst/>
              <a:cxnLst/>
              <a:rect l="l" t="t" r="r" b="b"/>
              <a:pathLst>
                <a:path w="8783320" h="862964">
                  <a:moveTo>
                    <a:pt x="0" y="862583"/>
                  </a:moveTo>
                  <a:lnTo>
                    <a:pt x="8782812" y="862583"/>
                  </a:lnTo>
                  <a:lnTo>
                    <a:pt x="8782812" y="0"/>
                  </a:lnTo>
                  <a:lnTo>
                    <a:pt x="0" y="0"/>
                  </a:lnTo>
                  <a:lnTo>
                    <a:pt x="0" y="862583"/>
                  </a:lnTo>
                  <a:close/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5500" y="3067726"/>
              <a:ext cx="8459939" cy="66921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395727" y="3192779"/>
              <a:ext cx="5481955" cy="212090"/>
            </a:xfrm>
            <a:custGeom>
              <a:avLst/>
              <a:gdLst/>
              <a:ahLst/>
              <a:cxnLst/>
              <a:rect l="l" t="t" r="r" b="b"/>
              <a:pathLst>
                <a:path w="5481955" h="212089">
                  <a:moveTo>
                    <a:pt x="5481828" y="0"/>
                  </a:moveTo>
                  <a:lnTo>
                    <a:pt x="0" y="0"/>
                  </a:lnTo>
                  <a:lnTo>
                    <a:pt x="0" y="211836"/>
                  </a:lnTo>
                  <a:lnTo>
                    <a:pt x="5481828" y="211836"/>
                  </a:lnTo>
                  <a:lnTo>
                    <a:pt x="5481828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6072" y="1424939"/>
            <a:ext cx="784097" cy="19583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0851" y="1764792"/>
            <a:ext cx="7913370" cy="106451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09A4ED5-EB05-15F9-55EC-806350A3C016}"/>
              </a:ext>
            </a:extLst>
          </p:cNvPr>
          <p:cNvSpPr txBox="1"/>
          <p:nvPr/>
        </p:nvSpPr>
        <p:spPr>
          <a:xfrm>
            <a:off x="761389" y="5136912"/>
            <a:ext cx="8153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Explains </a:t>
            </a:r>
            <a:r>
              <a:rPr lang="en-US" b="1" dirty="0">
                <a:solidFill>
                  <a:srgbClr val="FF0000"/>
                </a:solidFill>
              </a:rPr>
              <a:t>Fancy Indexing</a:t>
            </a:r>
            <a:r>
              <a:rPr lang="en-US" dirty="0">
                <a:solidFill>
                  <a:srgbClr val="FF0000"/>
                </a:solidFill>
              </a:rPr>
              <a:t> (also called </a:t>
            </a:r>
            <a:r>
              <a:rPr lang="en-US" b="1" dirty="0">
                <a:solidFill>
                  <a:srgbClr val="FF0000"/>
                </a:solidFill>
              </a:rPr>
              <a:t>Advanced Indexing</a:t>
            </a:r>
            <a:r>
              <a:rPr lang="en-US" dirty="0">
                <a:solidFill>
                  <a:srgbClr val="FF0000"/>
                </a:solidFill>
              </a:rPr>
              <a:t>) in NumPy.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Normally, we access </a:t>
            </a:r>
            <a:r>
              <a:rPr lang="en-US" b="1" dirty="0">
                <a:solidFill>
                  <a:srgbClr val="FF0000"/>
                </a:solidFill>
              </a:rPr>
              <a:t>one element</a:t>
            </a:r>
            <a:r>
              <a:rPr lang="en-US" dirty="0">
                <a:solidFill>
                  <a:srgbClr val="FF0000"/>
                </a:solidFill>
              </a:rPr>
              <a:t> using a single index.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Now, we can access </a:t>
            </a:r>
            <a:r>
              <a:rPr lang="en-US" b="1" dirty="0">
                <a:solidFill>
                  <a:srgbClr val="FF0000"/>
                </a:solidFill>
              </a:rPr>
              <a:t>multiple elements at once</a:t>
            </a:r>
            <a:r>
              <a:rPr lang="en-US" dirty="0">
                <a:solidFill>
                  <a:srgbClr val="FF0000"/>
                </a:solidFill>
              </a:rPr>
              <a:t> by giving a </a:t>
            </a:r>
            <a:r>
              <a:rPr lang="en-US" b="1" dirty="0">
                <a:solidFill>
                  <a:srgbClr val="FF0000"/>
                </a:solidFill>
              </a:rPr>
              <a:t>list of indices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FF8AA3-E7AF-36A6-23B8-065FDCEEAB15}"/>
              </a:ext>
            </a:extLst>
          </p:cNvPr>
          <p:cNvSpPr txBox="1"/>
          <p:nvPr/>
        </p:nvSpPr>
        <p:spPr>
          <a:xfrm>
            <a:off x="762000" y="1981200"/>
            <a:ext cx="495582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# Select multiple elements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print(a1[[1, 3, 4]])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[10 30 40]</a:t>
            </a:r>
          </a:p>
        </p:txBody>
      </p:sp>
    </p:spTree>
    <p:extLst>
      <p:ext uri="{BB962C8B-B14F-4D97-AF65-F5344CB8AC3E}">
        <p14:creationId xmlns:p14="http://schemas.microsoft.com/office/powerpoint/2010/main" val="2175071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9697" y="6524364"/>
            <a:ext cx="166816" cy="8446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531" y="6510528"/>
            <a:ext cx="2044445" cy="1607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7892" y="6533388"/>
            <a:ext cx="1677161" cy="10439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22275"/>
            <a:ext cx="2976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1.4.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NumPy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Indexing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Slicing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12530" y="456056"/>
            <a:ext cx="668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Calibri"/>
                <a:cs typeface="Calibri"/>
              </a:rPr>
              <a:t>UNIT</a:t>
            </a:r>
            <a:r>
              <a:rPr sz="1600" spc="-4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600" b="1" spc="-114" dirty="0">
                <a:solidFill>
                  <a:srgbClr val="D9D9D9"/>
                </a:solidFill>
                <a:latin typeface="Arial"/>
                <a:cs typeface="Arial"/>
              </a:rPr>
              <a:t>01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54608" y="3425825"/>
            <a:ext cx="8789670" cy="1375410"/>
            <a:chOff x="554608" y="3425825"/>
            <a:chExt cx="8789670" cy="1375410"/>
          </a:xfrm>
        </p:grpSpPr>
        <p:sp>
          <p:nvSpPr>
            <p:cNvPr id="8" name="object 8"/>
            <p:cNvSpPr/>
            <p:nvPr/>
          </p:nvSpPr>
          <p:spPr>
            <a:xfrm>
              <a:off x="557783" y="3429000"/>
              <a:ext cx="8783320" cy="1369060"/>
            </a:xfrm>
            <a:custGeom>
              <a:avLst/>
              <a:gdLst/>
              <a:ahLst/>
              <a:cxnLst/>
              <a:rect l="l" t="t" r="r" b="b"/>
              <a:pathLst>
                <a:path w="8783320" h="1369060">
                  <a:moveTo>
                    <a:pt x="0" y="1368552"/>
                  </a:moveTo>
                  <a:lnTo>
                    <a:pt x="8782812" y="1368552"/>
                  </a:lnTo>
                  <a:lnTo>
                    <a:pt x="8782812" y="0"/>
                  </a:lnTo>
                  <a:lnTo>
                    <a:pt x="0" y="0"/>
                  </a:lnTo>
                  <a:lnTo>
                    <a:pt x="0" y="1368552"/>
                  </a:lnTo>
                  <a:close/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5987" y="3453320"/>
              <a:ext cx="8674608" cy="1258887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6072" y="1424939"/>
            <a:ext cx="784097" cy="19583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0851" y="1764792"/>
            <a:ext cx="8285226" cy="146075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39906C-57AB-4915-DE21-C2FD856B5180}"/>
              </a:ext>
            </a:extLst>
          </p:cNvPr>
          <p:cNvSpPr txBox="1"/>
          <p:nvPr/>
        </p:nvSpPr>
        <p:spPr>
          <a:xfrm>
            <a:off x="990600" y="1600200"/>
            <a:ext cx="651368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Program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import </a:t>
            </a:r>
            <a:r>
              <a:rPr lang="en-US" dirty="0" err="1">
                <a:latin typeface="Courier New" panose="02070309020205020404" pitchFamily="49" charset="0"/>
              </a:rPr>
              <a:t>numpy</a:t>
            </a:r>
            <a:r>
              <a:rPr lang="en-US" dirty="0">
                <a:latin typeface="Courier New" panose="02070309020205020404" pitchFamily="49" charset="0"/>
              </a:rPr>
              <a:t> as np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# Create a 2D array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a2 = </a:t>
            </a:r>
            <a:r>
              <a:rPr lang="en-US" dirty="0" err="1">
                <a:latin typeface="Courier New" panose="02070309020205020404" pitchFamily="49" charset="0"/>
              </a:rPr>
              <a:t>np.arange</a:t>
            </a:r>
            <a:r>
              <a:rPr lang="en-US" dirty="0">
                <a:latin typeface="Courier New" panose="02070309020205020404" pitchFamily="49" charset="0"/>
              </a:rPr>
              <a:t>(10, 100, 10).reshape(3, 3)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# Display the array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print(a2)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[[10 20 30]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[40 50 60]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[70 80 90]]</a:t>
            </a:r>
          </a:p>
        </p:txBody>
      </p:sp>
    </p:spTree>
    <p:extLst>
      <p:ext uri="{BB962C8B-B14F-4D97-AF65-F5344CB8AC3E}">
        <p14:creationId xmlns:p14="http://schemas.microsoft.com/office/powerpoint/2010/main" val="40948382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82747" y="6524444"/>
            <a:ext cx="162242" cy="8590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531" y="6510528"/>
            <a:ext cx="2044445" cy="1607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7892" y="6533388"/>
            <a:ext cx="1677161" cy="10439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22275"/>
            <a:ext cx="2976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1.4.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NumPy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Indexing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Slicing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12530" y="456056"/>
            <a:ext cx="668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Calibri"/>
                <a:cs typeface="Calibri"/>
              </a:rPr>
              <a:t>UNIT</a:t>
            </a:r>
            <a:r>
              <a:rPr sz="1600" spc="-4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600" b="1" spc="-114" dirty="0">
                <a:solidFill>
                  <a:srgbClr val="D9D9D9"/>
                </a:solidFill>
                <a:latin typeface="Arial"/>
                <a:cs typeface="Arial"/>
              </a:rPr>
              <a:t>01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54608" y="2256917"/>
            <a:ext cx="8789670" cy="834390"/>
            <a:chOff x="554608" y="2256917"/>
            <a:chExt cx="8789670" cy="834390"/>
          </a:xfrm>
        </p:grpSpPr>
        <p:sp>
          <p:nvSpPr>
            <p:cNvPr id="8" name="object 8"/>
            <p:cNvSpPr/>
            <p:nvPr/>
          </p:nvSpPr>
          <p:spPr>
            <a:xfrm>
              <a:off x="557783" y="2260092"/>
              <a:ext cx="8783320" cy="828040"/>
            </a:xfrm>
            <a:custGeom>
              <a:avLst/>
              <a:gdLst/>
              <a:ahLst/>
              <a:cxnLst/>
              <a:rect l="l" t="t" r="r" b="b"/>
              <a:pathLst>
                <a:path w="8783320" h="828039">
                  <a:moveTo>
                    <a:pt x="0" y="827531"/>
                  </a:moveTo>
                  <a:lnTo>
                    <a:pt x="8782812" y="827531"/>
                  </a:lnTo>
                  <a:lnTo>
                    <a:pt x="8782812" y="0"/>
                  </a:lnTo>
                  <a:lnTo>
                    <a:pt x="0" y="0"/>
                  </a:lnTo>
                  <a:lnTo>
                    <a:pt x="0" y="827531"/>
                  </a:lnTo>
                  <a:close/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6876" y="2310550"/>
              <a:ext cx="8508512" cy="717048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556133" y="3799204"/>
            <a:ext cx="8787765" cy="1301750"/>
            <a:chOff x="556133" y="3799204"/>
            <a:chExt cx="8787765" cy="1301750"/>
          </a:xfrm>
        </p:grpSpPr>
        <p:sp>
          <p:nvSpPr>
            <p:cNvPr id="11" name="object 11"/>
            <p:cNvSpPr/>
            <p:nvPr/>
          </p:nvSpPr>
          <p:spPr>
            <a:xfrm>
              <a:off x="559308" y="3802379"/>
              <a:ext cx="8781415" cy="1295400"/>
            </a:xfrm>
            <a:custGeom>
              <a:avLst/>
              <a:gdLst/>
              <a:ahLst/>
              <a:cxnLst/>
              <a:rect l="l" t="t" r="r" b="b"/>
              <a:pathLst>
                <a:path w="8781415" h="1295400">
                  <a:moveTo>
                    <a:pt x="0" y="1295400"/>
                  </a:moveTo>
                  <a:lnTo>
                    <a:pt x="8781288" y="1295400"/>
                  </a:lnTo>
                  <a:lnTo>
                    <a:pt x="8781288" y="0"/>
                  </a:lnTo>
                  <a:lnTo>
                    <a:pt x="0" y="0"/>
                  </a:lnTo>
                  <a:lnTo>
                    <a:pt x="0" y="1295400"/>
                  </a:lnTo>
                  <a:close/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8091" y="3870995"/>
              <a:ext cx="8524854" cy="1175103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0851" y="3322294"/>
            <a:ext cx="8394954" cy="36349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6072" y="1424939"/>
            <a:ext cx="784097" cy="19583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20851" y="1764779"/>
            <a:ext cx="8460486" cy="36196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CA9654-50B6-4BD4-57FE-75EE379C6FAA}"/>
              </a:ext>
            </a:extLst>
          </p:cNvPr>
          <p:cNvSpPr txBox="1"/>
          <p:nvPr/>
        </p:nvSpPr>
        <p:spPr>
          <a:xfrm>
            <a:off x="685800" y="1524000"/>
            <a:ext cx="697088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import </a:t>
            </a:r>
            <a:r>
              <a:rPr lang="en-US" dirty="0" err="1">
                <a:latin typeface="Courier New" panose="02070309020205020404" pitchFamily="49" charset="0"/>
              </a:rPr>
              <a:t>numpy</a:t>
            </a:r>
            <a:r>
              <a:rPr lang="en-US" dirty="0">
                <a:latin typeface="Courier New" panose="02070309020205020404" pitchFamily="49" charset="0"/>
              </a:rPr>
              <a:t> as np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# Create a 3 × 3 array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a2 = </a:t>
            </a:r>
            <a:r>
              <a:rPr lang="en-US" dirty="0" err="1">
                <a:latin typeface="Courier New" panose="02070309020205020404" pitchFamily="49" charset="0"/>
              </a:rPr>
              <a:t>np.arange</a:t>
            </a:r>
            <a:r>
              <a:rPr lang="en-US" dirty="0">
                <a:latin typeface="Courier New" panose="02070309020205020404" pitchFamily="49" charset="0"/>
              </a:rPr>
              <a:t>(10, 100, 10).reshape(3, 3)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print(a2)</a:t>
            </a:r>
          </a:p>
          <a:p>
            <a:pPr>
              <a:buNone/>
            </a:pPr>
            <a:r>
              <a:rPr lang="en-US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[[10 20 30]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[40 50 60]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[70 80 90]]</a:t>
            </a:r>
          </a:p>
        </p:txBody>
      </p:sp>
    </p:spTree>
    <p:extLst>
      <p:ext uri="{BB962C8B-B14F-4D97-AF65-F5344CB8AC3E}">
        <p14:creationId xmlns:p14="http://schemas.microsoft.com/office/powerpoint/2010/main" val="16550287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81180" y="6524444"/>
            <a:ext cx="165333" cy="8590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531" y="6510528"/>
            <a:ext cx="2044445" cy="1607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7892" y="6533388"/>
            <a:ext cx="1677161" cy="10439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22275"/>
            <a:ext cx="2976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1.4.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NumPy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Indexing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Slicing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12530" y="456056"/>
            <a:ext cx="668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Calibri"/>
                <a:cs typeface="Calibri"/>
              </a:rPr>
              <a:t>UNIT</a:t>
            </a:r>
            <a:r>
              <a:rPr sz="1600" spc="-4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600" b="1" spc="-114" dirty="0">
                <a:solidFill>
                  <a:srgbClr val="D9D9D9"/>
                </a:solidFill>
                <a:latin typeface="Arial"/>
                <a:cs typeface="Arial"/>
              </a:rPr>
              <a:t>01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54608" y="2057273"/>
            <a:ext cx="8789670" cy="870585"/>
            <a:chOff x="554608" y="2057273"/>
            <a:chExt cx="8789670" cy="870585"/>
          </a:xfrm>
        </p:grpSpPr>
        <p:sp>
          <p:nvSpPr>
            <p:cNvPr id="8" name="object 8"/>
            <p:cNvSpPr/>
            <p:nvPr/>
          </p:nvSpPr>
          <p:spPr>
            <a:xfrm>
              <a:off x="557783" y="2060448"/>
              <a:ext cx="8783320" cy="864235"/>
            </a:xfrm>
            <a:custGeom>
              <a:avLst/>
              <a:gdLst/>
              <a:ahLst/>
              <a:cxnLst/>
              <a:rect l="l" t="t" r="r" b="b"/>
              <a:pathLst>
                <a:path w="8783320" h="864235">
                  <a:moveTo>
                    <a:pt x="0" y="864108"/>
                  </a:moveTo>
                  <a:lnTo>
                    <a:pt x="8782812" y="864108"/>
                  </a:lnTo>
                  <a:lnTo>
                    <a:pt x="8782812" y="0"/>
                  </a:lnTo>
                  <a:lnTo>
                    <a:pt x="0" y="0"/>
                  </a:lnTo>
                  <a:lnTo>
                    <a:pt x="0" y="864108"/>
                  </a:lnTo>
                  <a:close/>
                </a:path>
              </a:pathLst>
            </a:custGeom>
            <a:ln w="6349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8453" y="2127201"/>
              <a:ext cx="8601836" cy="662247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556133" y="3503548"/>
            <a:ext cx="8787765" cy="1303655"/>
            <a:chOff x="556133" y="3503548"/>
            <a:chExt cx="8787765" cy="1303655"/>
          </a:xfrm>
        </p:grpSpPr>
        <p:sp>
          <p:nvSpPr>
            <p:cNvPr id="11" name="object 11"/>
            <p:cNvSpPr/>
            <p:nvPr/>
          </p:nvSpPr>
          <p:spPr>
            <a:xfrm>
              <a:off x="559308" y="3506723"/>
              <a:ext cx="8781415" cy="1297305"/>
            </a:xfrm>
            <a:custGeom>
              <a:avLst/>
              <a:gdLst/>
              <a:ahLst/>
              <a:cxnLst/>
              <a:rect l="l" t="t" r="r" b="b"/>
              <a:pathLst>
                <a:path w="8781415" h="1297304">
                  <a:moveTo>
                    <a:pt x="0" y="1296924"/>
                  </a:moveTo>
                  <a:lnTo>
                    <a:pt x="8781288" y="1296924"/>
                  </a:lnTo>
                  <a:lnTo>
                    <a:pt x="8781288" y="0"/>
                  </a:lnTo>
                  <a:lnTo>
                    <a:pt x="0" y="0"/>
                  </a:lnTo>
                  <a:lnTo>
                    <a:pt x="0" y="1296924"/>
                  </a:lnTo>
                  <a:close/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8272" y="3578869"/>
              <a:ext cx="8583232" cy="1185630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0851" y="3204972"/>
            <a:ext cx="7995666" cy="16687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6072" y="1424939"/>
            <a:ext cx="784097" cy="19583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20851" y="1764792"/>
            <a:ext cx="8411718" cy="16687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2AA09F8-6184-C3CC-D818-31EC7B98CDC0}"/>
              </a:ext>
            </a:extLst>
          </p:cNvPr>
          <p:cNvSpPr txBox="1"/>
          <p:nvPr/>
        </p:nvSpPr>
        <p:spPr>
          <a:xfrm>
            <a:off x="698453" y="5092460"/>
            <a:ext cx="49558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print(a2[1])</a:t>
            </a:r>
          </a:p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[40 50 60]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694399-5E3D-E12E-4F9F-A89FB41BF5DB}"/>
              </a:ext>
            </a:extLst>
          </p:cNvPr>
          <p:cNvSpPr txBox="1"/>
          <p:nvPr/>
        </p:nvSpPr>
        <p:spPr>
          <a:xfrm>
            <a:off x="3376742" y="5101209"/>
            <a:ext cx="65292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a2[2] = </a:t>
            </a:r>
            <a:r>
              <a:rPr lang="en-US" dirty="0" err="1">
                <a:latin typeface="Courier New" panose="02070309020205020404" pitchFamily="49" charset="0"/>
              </a:rPr>
              <a:t>np.array</a:t>
            </a:r>
            <a:r>
              <a:rPr lang="en-US" dirty="0">
                <a:latin typeface="Courier New" panose="02070309020205020404" pitchFamily="49" charset="0"/>
              </a:rPr>
              <a:t>([45, 55, 65])</a:t>
            </a:r>
          </a:p>
          <a:p>
            <a:pPr>
              <a:buNone/>
            </a:pPr>
            <a:r>
              <a:rPr lang="en-US" dirty="0"/>
              <a:t>This means</a:t>
            </a:r>
          </a:p>
          <a:p>
            <a:pPr>
              <a:buNone/>
            </a:pPr>
            <a:r>
              <a:rPr lang="en-US" dirty="0"/>
              <a:t>Replace </a:t>
            </a:r>
            <a:r>
              <a:rPr lang="en-US" b="1" dirty="0"/>
              <a:t>Row 2</a:t>
            </a:r>
            <a:r>
              <a:rPr lang="en-US" dirty="0"/>
              <a:t> with the new values </a:t>
            </a:r>
            <a:r>
              <a:rPr lang="en-US" b="1" dirty="0"/>
              <a:t>45, 55, and 65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88888" y="6524364"/>
            <a:ext cx="159149" cy="8446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531" y="6510528"/>
            <a:ext cx="2044445" cy="1607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7892" y="6533388"/>
            <a:ext cx="1677161" cy="104394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1.4.</a:t>
            </a:r>
            <a:r>
              <a:rPr spc="-50" dirty="0"/>
              <a:t> </a:t>
            </a:r>
            <a:r>
              <a:rPr dirty="0"/>
              <a:t>NumPy</a:t>
            </a:r>
            <a:r>
              <a:rPr spc="-45" dirty="0"/>
              <a:t> </a:t>
            </a:r>
            <a:r>
              <a:rPr dirty="0"/>
              <a:t>Indexing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Slicing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812530" y="456056"/>
            <a:ext cx="668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Calibri"/>
                <a:cs typeface="Calibri"/>
              </a:rPr>
              <a:t>UNIT</a:t>
            </a:r>
            <a:r>
              <a:rPr sz="1600" spc="-4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600" b="1" spc="-114" dirty="0">
                <a:solidFill>
                  <a:srgbClr val="D9D9D9"/>
                </a:solidFill>
                <a:latin typeface="Arial"/>
                <a:cs typeface="Arial"/>
              </a:rPr>
              <a:t>01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7" name="object 7" descr="Byte - Free electronics icons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4516" y="5275618"/>
            <a:ext cx="217122" cy="20900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57783" y="5166359"/>
            <a:ext cx="8781415" cy="710565"/>
          </a:xfrm>
          <a:prstGeom prst="rect">
            <a:avLst/>
          </a:prstGeom>
          <a:ln w="6350">
            <a:solidFill>
              <a:srgbClr val="D9D9D9"/>
            </a:solidFill>
          </a:ln>
        </p:spPr>
        <p:txBody>
          <a:bodyPr vert="horz" wrap="square" lIns="0" tIns="106680" rIns="0" bIns="0" rtlCol="0">
            <a:spAutoFit/>
          </a:bodyPr>
          <a:lstStyle/>
          <a:p>
            <a:pPr marL="454659">
              <a:lnSpc>
                <a:spcPct val="100000"/>
              </a:lnSpc>
              <a:spcBef>
                <a:spcPts val="840"/>
              </a:spcBef>
            </a:pPr>
            <a:r>
              <a:rPr sz="1300" b="1" spc="-60" dirty="0">
                <a:solidFill>
                  <a:srgbClr val="252525"/>
                </a:solidFill>
                <a:latin typeface="Trebuchet MS"/>
                <a:cs typeface="Trebuchet MS"/>
              </a:rPr>
              <a:t>Line</a:t>
            </a:r>
            <a:r>
              <a:rPr sz="1300" b="1" spc="-114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b="1" spc="-25" dirty="0">
                <a:solidFill>
                  <a:srgbClr val="252525"/>
                </a:solidFill>
                <a:latin typeface="Trebuchet MS"/>
                <a:cs typeface="Trebuchet MS"/>
              </a:rPr>
              <a:t>17</a:t>
            </a:r>
            <a:endParaRPr sz="1300">
              <a:latin typeface="Trebuchet MS"/>
              <a:cs typeface="Trebuchet MS"/>
            </a:endParaRPr>
          </a:p>
          <a:p>
            <a:pPr marL="647065" indent="-18288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647065" algn="l"/>
              </a:tabLst>
            </a:pPr>
            <a:r>
              <a:rPr sz="1300" spc="-30" dirty="0">
                <a:solidFill>
                  <a:srgbClr val="252525"/>
                </a:solidFill>
                <a:latin typeface="Trebuchet MS"/>
                <a:cs typeface="Trebuchet MS"/>
              </a:rPr>
              <a:t>If</a:t>
            </a:r>
            <a:r>
              <a:rPr sz="1300" spc="-8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252525"/>
                </a:solidFill>
                <a:latin typeface="Trebuchet MS"/>
                <a:cs typeface="Trebuchet MS"/>
              </a:rPr>
              <a:t>you</a:t>
            </a:r>
            <a:r>
              <a:rPr sz="1300" spc="-9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0" dirty="0">
                <a:solidFill>
                  <a:srgbClr val="252525"/>
                </a:solidFill>
                <a:latin typeface="Trebuchet MS"/>
                <a:cs typeface="Trebuchet MS"/>
              </a:rPr>
              <a:t>select</a:t>
            </a:r>
            <a:r>
              <a:rPr sz="1300" spc="-8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5" dirty="0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sz="1300" spc="-7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252525"/>
                </a:solidFill>
                <a:latin typeface="Trebuchet MS"/>
                <a:cs typeface="Trebuchet MS"/>
              </a:rPr>
              <a:t>row</a:t>
            </a:r>
            <a:r>
              <a:rPr sz="1300" spc="-9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252525"/>
                </a:solidFill>
                <a:latin typeface="Trebuchet MS"/>
                <a:cs typeface="Trebuchet MS"/>
              </a:rPr>
              <a:t>first</a:t>
            </a:r>
            <a:r>
              <a:rPr sz="1300" spc="-9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252525"/>
                </a:solidFill>
                <a:latin typeface="Trebuchet MS"/>
                <a:cs typeface="Trebuchet MS"/>
              </a:rPr>
              <a:t>from</a:t>
            </a:r>
            <a:r>
              <a:rPr sz="1300" spc="-75" dirty="0">
                <a:solidFill>
                  <a:srgbClr val="252525"/>
                </a:solidFill>
                <a:latin typeface="Trebuchet MS"/>
                <a:cs typeface="Trebuchet MS"/>
              </a:rPr>
              <a:t> [10, </a:t>
            </a:r>
            <a:r>
              <a:rPr sz="1300" spc="-45" dirty="0">
                <a:solidFill>
                  <a:srgbClr val="252525"/>
                </a:solidFill>
                <a:latin typeface="Trebuchet MS"/>
                <a:cs typeface="Trebuchet MS"/>
              </a:rPr>
              <a:t>20,</a:t>
            </a:r>
            <a:r>
              <a:rPr sz="1300" spc="-8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252525"/>
                </a:solidFill>
                <a:latin typeface="Trebuchet MS"/>
                <a:cs typeface="Trebuchet MS"/>
              </a:rPr>
              <a:t>30]</a:t>
            </a:r>
            <a:r>
              <a:rPr sz="1300" spc="-8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252525"/>
                </a:solidFill>
                <a:latin typeface="Trebuchet MS"/>
                <a:cs typeface="Trebuchet MS"/>
              </a:rPr>
              <a:t>and</a:t>
            </a:r>
            <a:r>
              <a:rPr sz="1300" spc="-8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30" dirty="0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sz="1300" spc="-7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252525"/>
                </a:solidFill>
                <a:latin typeface="Trebuchet MS"/>
                <a:cs typeface="Trebuchet MS"/>
              </a:rPr>
              <a:t>column</a:t>
            </a:r>
            <a:r>
              <a:rPr sz="1300" spc="-6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252525"/>
                </a:solidFill>
                <a:latin typeface="Trebuchet MS"/>
                <a:cs typeface="Trebuchet MS"/>
              </a:rPr>
              <a:t>from</a:t>
            </a:r>
            <a:r>
              <a:rPr sz="1300" spc="-9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45" dirty="0">
                <a:solidFill>
                  <a:srgbClr val="252525"/>
                </a:solidFill>
                <a:latin typeface="Trebuchet MS"/>
                <a:cs typeface="Trebuchet MS"/>
              </a:rPr>
              <a:t>[45,</a:t>
            </a:r>
            <a:r>
              <a:rPr sz="1300" spc="-7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60" dirty="0">
                <a:solidFill>
                  <a:srgbClr val="252525"/>
                </a:solidFill>
                <a:latin typeface="Trebuchet MS"/>
                <a:cs typeface="Trebuchet MS"/>
              </a:rPr>
              <a:t>55,</a:t>
            </a:r>
            <a:r>
              <a:rPr sz="1300" spc="-7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55" dirty="0">
                <a:solidFill>
                  <a:srgbClr val="252525"/>
                </a:solidFill>
                <a:latin typeface="Trebuchet MS"/>
                <a:cs typeface="Trebuchet MS"/>
              </a:rPr>
              <a:t>65],</a:t>
            </a:r>
            <a:r>
              <a:rPr sz="1300" spc="-7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252525"/>
                </a:solidFill>
                <a:latin typeface="Trebuchet MS"/>
                <a:cs typeface="Trebuchet MS"/>
              </a:rPr>
              <a:t>then</a:t>
            </a:r>
            <a:r>
              <a:rPr sz="1300" spc="-6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5" dirty="0">
                <a:solidFill>
                  <a:srgbClr val="252525"/>
                </a:solidFill>
                <a:latin typeface="Trebuchet MS"/>
                <a:cs typeface="Trebuchet MS"/>
              </a:rPr>
              <a:t>10</a:t>
            </a:r>
            <a:r>
              <a:rPr sz="1300" spc="-9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252525"/>
                </a:solidFill>
                <a:latin typeface="Trebuchet MS"/>
                <a:cs typeface="Trebuchet MS"/>
              </a:rPr>
              <a:t>and</a:t>
            </a:r>
            <a:r>
              <a:rPr sz="1300" spc="-8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252525"/>
                </a:solidFill>
                <a:latin typeface="Trebuchet MS"/>
                <a:cs typeface="Trebuchet MS"/>
              </a:rPr>
              <a:t>55</a:t>
            </a:r>
            <a:r>
              <a:rPr sz="1300" spc="-8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30" dirty="0">
                <a:solidFill>
                  <a:srgbClr val="252525"/>
                </a:solidFill>
                <a:latin typeface="Trebuchet MS"/>
                <a:cs typeface="Trebuchet MS"/>
              </a:rPr>
              <a:t>are</a:t>
            </a:r>
            <a:r>
              <a:rPr sz="1300" spc="-8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252525"/>
                </a:solidFill>
                <a:latin typeface="Trebuchet MS"/>
                <a:cs typeface="Trebuchet MS"/>
              </a:rPr>
              <a:t>returned.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6072" y="1424939"/>
            <a:ext cx="784097" cy="19583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0851" y="1764792"/>
            <a:ext cx="8250174" cy="1160526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556133" y="3050920"/>
            <a:ext cx="8787765" cy="1893570"/>
            <a:chOff x="556133" y="3050920"/>
            <a:chExt cx="8787765" cy="1893570"/>
          </a:xfrm>
        </p:grpSpPr>
        <p:sp>
          <p:nvSpPr>
            <p:cNvPr id="12" name="object 12"/>
            <p:cNvSpPr/>
            <p:nvPr/>
          </p:nvSpPr>
          <p:spPr>
            <a:xfrm>
              <a:off x="559308" y="3054095"/>
              <a:ext cx="8781415" cy="1887220"/>
            </a:xfrm>
            <a:custGeom>
              <a:avLst/>
              <a:gdLst/>
              <a:ahLst/>
              <a:cxnLst/>
              <a:rect l="l" t="t" r="r" b="b"/>
              <a:pathLst>
                <a:path w="8781415" h="1887220">
                  <a:moveTo>
                    <a:pt x="0" y="1886711"/>
                  </a:moveTo>
                  <a:lnTo>
                    <a:pt x="8781288" y="1886711"/>
                  </a:lnTo>
                  <a:lnTo>
                    <a:pt x="8781288" y="0"/>
                  </a:lnTo>
                  <a:lnTo>
                    <a:pt x="0" y="0"/>
                  </a:lnTo>
                  <a:lnTo>
                    <a:pt x="0" y="1886711"/>
                  </a:lnTo>
                  <a:close/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7962" y="3149926"/>
              <a:ext cx="8501667" cy="172419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790443" y="4261103"/>
              <a:ext cx="6553200" cy="254635"/>
            </a:xfrm>
            <a:custGeom>
              <a:avLst/>
              <a:gdLst/>
              <a:ahLst/>
              <a:cxnLst/>
              <a:rect l="l" t="t" r="r" b="b"/>
              <a:pathLst>
                <a:path w="6553200" h="254635">
                  <a:moveTo>
                    <a:pt x="6553200" y="0"/>
                  </a:moveTo>
                  <a:lnTo>
                    <a:pt x="0" y="0"/>
                  </a:lnTo>
                  <a:lnTo>
                    <a:pt x="0" y="254508"/>
                  </a:lnTo>
                  <a:lnTo>
                    <a:pt x="6553200" y="254508"/>
                  </a:lnTo>
                  <a:lnTo>
                    <a:pt x="6553200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98BCE4-68E3-DC9B-203F-636E3FC55BE3}"/>
              </a:ext>
            </a:extLst>
          </p:cNvPr>
          <p:cNvSpPr txBox="1"/>
          <p:nvPr/>
        </p:nvSpPr>
        <p:spPr>
          <a:xfrm>
            <a:off x="414867" y="2286000"/>
            <a:ext cx="495582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Continue from the Previous Program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import </a:t>
            </a:r>
            <a:r>
              <a:rPr lang="en-US" dirty="0" err="1">
                <a:latin typeface="Courier New" panose="02070309020205020404" pitchFamily="49" charset="0"/>
              </a:rPr>
              <a:t>numpy</a:t>
            </a:r>
            <a:r>
              <a:rPr lang="en-US" dirty="0">
                <a:latin typeface="Courier New" panose="02070309020205020404" pitchFamily="49" charset="0"/>
              </a:rPr>
              <a:t> as np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# Create a 3 × 3 array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a2 = </a:t>
            </a:r>
            <a:r>
              <a:rPr lang="en-US" dirty="0" err="1">
                <a:latin typeface="Courier New" panose="02070309020205020404" pitchFamily="49" charset="0"/>
              </a:rPr>
              <a:t>np.array</a:t>
            </a:r>
            <a:r>
              <a:rPr lang="en-US" dirty="0">
                <a:latin typeface="Courier New" panose="02070309020205020404" pitchFamily="49" charset="0"/>
              </a:rPr>
              <a:t>([[10, 20, 30],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       [40, 50, 60],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       [45, 55, 65]])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print(a2)</a:t>
            </a:r>
          </a:p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[[10 20 30]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[40 50 60]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[45 55 65]]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87A560-30FA-789A-BE5F-4157AC144A6E}"/>
              </a:ext>
            </a:extLst>
          </p:cNvPr>
          <p:cNvSpPr txBox="1"/>
          <p:nvPr/>
        </p:nvSpPr>
        <p:spPr>
          <a:xfrm>
            <a:off x="5373511" y="3962400"/>
            <a:ext cx="49558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Select Multiple Elements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print(a2[[0,2],[0,1]])</a:t>
            </a:r>
          </a:p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[10 55]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73DBE60-B611-6B32-85A9-4A2BD85D8C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4920965"/>
              </p:ext>
            </p:extLst>
          </p:nvPr>
        </p:nvGraphicFramePr>
        <p:xfrm>
          <a:off x="443089" y="119300"/>
          <a:ext cx="8858248" cy="146304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2214562">
                  <a:extLst>
                    <a:ext uri="{9D8B030D-6E8A-4147-A177-3AD203B41FA5}">
                      <a16:colId xmlns:a16="http://schemas.microsoft.com/office/drawing/2014/main" val="1826919277"/>
                    </a:ext>
                  </a:extLst>
                </a:gridCol>
                <a:gridCol w="2214562">
                  <a:extLst>
                    <a:ext uri="{9D8B030D-6E8A-4147-A177-3AD203B41FA5}">
                      <a16:colId xmlns:a16="http://schemas.microsoft.com/office/drawing/2014/main" val="1974089777"/>
                    </a:ext>
                  </a:extLst>
                </a:gridCol>
                <a:gridCol w="2214562">
                  <a:extLst>
                    <a:ext uri="{9D8B030D-6E8A-4147-A177-3AD203B41FA5}">
                      <a16:colId xmlns:a16="http://schemas.microsoft.com/office/drawing/2014/main" val="887185198"/>
                    </a:ext>
                  </a:extLst>
                </a:gridCol>
                <a:gridCol w="2214562">
                  <a:extLst>
                    <a:ext uri="{9D8B030D-6E8A-4147-A177-3AD203B41FA5}">
                      <a16:colId xmlns:a16="http://schemas.microsoft.com/office/drawing/2014/main" val="153959403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Row \ Column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416439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0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435599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1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96458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2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88970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8258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8173" y="6524444"/>
            <a:ext cx="166816" cy="8590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531" y="6510528"/>
            <a:ext cx="2044445" cy="1607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7892" y="6533388"/>
            <a:ext cx="1677161" cy="104394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1.4.</a:t>
            </a:r>
            <a:r>
              <a:rPr spc="-50" dirty="0"/>
              <a:t> </a:t>
            </a:r>
            <a:r>
              <a:rPr dirty="0"/>
              <a:t>NumPy</a:t>
            </a:r>
            <a:r>
              <a:rPr spc="-45" dirty="0"/>
              <a:t> </a:t>
            </a:r>
            <a:r>
              <a:rPr dirty="0"/>
              <a:t>Indexing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Slicing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812530" y="456056"/>
            <a:ext cx="668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Calibri"/>
                <a:cs typeface="Calibri"/>
              </a:rPr>
              <a:t>UNIT</a:t>
            </a:r>
            <a:r>
              <a:rPr sz="1600" spc="-4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600" b="1" spc="-114" dirty="0">
                <a:solidFill>
                  <a:srgbClr val="D9D9D9"/>
                </a:solidFill>
                <a:latin typeface="Arial"/>
                <a:cs typeface="Arial"/>
              </a:rPr>
              <a:t>01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7" name="object 7" descr="Byte - Free electronics icons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5176" y="4483315"/>
            <a:ext cx="215406" cy="210350"/>
          </a:xfrm>
          <a:prstGeom prst="rect">
            <a:avLst/>
          </a:prstGeom>
        </p:spPr>
      </p:pic>
      <p:pic>
        <p:nvPicPr>
          <p:cNvPr id="8" name="object 8" descr="Byte - Free electronics icons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2128" y="5021288"/>
            <a:ext cx="215406" cy="21035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57783" y="4373879"/>
            <a:ext cx="8781415" cy="1214755"/>
          </a:xfrm>
          <a:prstGeom prst="rect">
            <a:avLst/>
          </a:prstGeom>
          <a:ln w="6350">
            <a:solidFill>
              <a:srgbClr val="D9D9D9"/>
            </a:solidFill>
          </a:ln>
        </p:spPr>
        <p:txBody>
          <a:bodyPr vert="horz" wrap="square" lIns="0" tIns="107314" rIns="0" bIns="0" rtlCol="0">
            <a:spAutoFit/>
          </a:bodyPr>
          <a:lstStyle/>
          <a:p>
            <a:pPr marL="454659">
              <a:lnSpc>
                <a:spcPct val="100000"/>
              </a:lnSpc>
              <a:spcBef>
                <a:spcPts val="844"/>
              </a:spcBef>
            </a:pPr>
            <a:r>
              <a:rPr sz="1300" b="1" spc="-60" dirty="0">
                <a:solidFill>
                  <a:srgbClr val="252525"/>
                </a:solidFill>
                <a:latin typeface="Trebuchet MS"/>
                <a:cs typeface="Trebuchet MS"/>
              </a:rPr>
              <a:t>Line</a:t>
            </a:r>
            <a:r>
              <a:rPr sz="1300" b="1" spc="-114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b="1" spc="-25" dirty="0">
                <a:solidFill>
                  <a:srgbClr val="252525"/>
                </a:solidFill>
                <a:latin typeface="Trebuchet MS"/>
                <a:cs typeface="Trebuchet MS"/>
              </a:rPr>
              <a:t>19</a:t>
            </a:r>
            <a:endParaRPr sz="1300">
              <a:latin typeface="Trebuchet MS"/>
              <a:cs typeface="Trebuchet MS"/>
            </a:endParaRPr>
          </a:p>
          <a:p>
            <a:pPr marL="647065" indent="-182880">
              <a:lnSpc>
                <a:spcPct val="100000"/>
              </a:lnSpc>
              <a:spcBef>
                <a:spcPts val="715"/>
              </a:spcBef>
              <a:buFont typeface="Arial MT"/>
              <a:buChar char="•"/>
              <a:tabLst>
                <a:tab pos="647065" algn="l"/>
              </a:tabLst>
            </a:pPr>
            <a:r>
              <a:rPr sz="1300" dirty="0">
                <a:solidFill>
                  <a:srgbClr val="252525"/>
                </a:solidFill>
                <a:latin typeface="Trebuchet MS"/>
                <a:cs typeface="Trebuchet MS"/>
              </a:rPr>
              <a:t>Only</a:t>
            </a:r>
            <a:r>
              <a:rPr sz="1300" spc="-8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252525"/>
                </a:solidFill>
                <a:latin typeface="Trebuchet MS"/>
                <a:cs typeface="Trebuchet MS"/>
              </a:rPr>
              <a:t>elements</a:t>
            </a:r>
            <a:r>
              <a:rPr sz="13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30" dirty="0">
                <a:solidFill>
                  <a:srgbClr val="252525"/>
                </a:solidFill>
                <a:latin typeface="Trebuchet MS"/>
                <a:cs typeface="Trebuchet MS"/>
              </a:rPr>
              <a:t>that</a:t>
            </a:r>
            <a:r>
              <a:rPr sz="1300" spc="-6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0" dirty="0">
                <a:solidFill>
                  <a:srgbClr val="252525"/>
                </a:solidFill>
                <a:latin typeface="Trebuchet MS"/>
                <a:cs typeface="Trebuchet MS"/>
              </a:rPr>
              <a:t>meet</a:t>
            </a:r>
            <a:r>
              <a:rPr sz="1300" spc="-6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30" dirty="0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sz="1300" spc="-7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252525"/>
                </a:solidFill>
                <a:latin typeface="Trebuchet MS"/>
                <a:cs typeface="Trebuchet MS"/>
              </a:rPr>
              <a:t>conditions</a:t>
            </a:r>
            <a:r>
              <a:rPr sz="1300" spc="-8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252525"/>
                </a:solidFill>
                <a:latin typeface="Trebuchet MS"/>
                <a:cs typeface="Trebuchet MS"/>
              </a:rPr>
              <a:t>of</a:t>
            </a:r>
            <a:r>
              <a:rPr sz="1300" spc="-8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40" dirty="0">
                <a:solidFill>
                  <a:srgbClr val="252525"/>
                </a:solidFill>
                <a:latin typeface="Trebuchet MS"/>
                <a:cs typeface="Trebuchet MS"/>
              </a:rPr>
              <a:t>“a&gt;3”</a:t>
            </a:r>
            <a:r>
              <a:rPr sz="1300" spc="-8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30" dirty="0">
                <a:solidFill>
                  <a:srgbClr val="252525"/>
                </a:solidFill>
                <a:latin typeface="Trebuchet MS"/>
                <a:cs typeface="Trebuchet MS"/>
              </a:rPr>
              <a:t>are</a:t>
            </a:r>
            <a:r>
              <a:rPr sz="1300" spc="-7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252525"/>
                </a:solidFill>
                <a:latin typeface="Trebuchet MS"/>
                <a:cs typeface="Trebuchet MS"/>
              </a:rPr>
              <a:t>returned.</a:t>
            </a:r>
            <a:endParaRPr sz="1300">
              <a:latin typeface="Trebuchet MS"/>
              <a:cs typeface="Trebuchet MS"/>
            </a:endParaRPr>
          </a:p>
          <a:p>
            <a:pPr marL="452120">
              <a:lnSpc>
                <a:spcPct val="100000"/>
              </a:lnSpc>
              <a:spcBef>
                <a:spcPts val="405"/>
              </a:spcBef>
            </a:pPr>
            <a:r>
              <a:rPr sz="1300" b="1" spc="-60" dirty="0">
                <a:solidFill>
                  <a:srgbClr val="252525"/>
                </a:solidFill>
                <a:latin typeface="Trebuchet MS"/>
                <a:cs typeface="Trebuchet MS"/>
              </a:rPr>
              <a:t>Line</a:t>
            </a:r>
            <a:r>
              <a:rPr sz="1300" b="1" spc="-114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b="1" spc="-25" dirty="0">
                <a:solidFill>
                  <a:srgbClr val="252525"/>
                </a:solidFill>
                <a:latin typeface="Trebuchet MS"/>
                <a:cs typeface="Trebuchet MS"/>
              </a:rPr>
              <a:t>20</a:t>
            </a:r>
            <a:endParaRPr sz="1300">
              <a:latin typeface="Trebuchet MS"/>
              <a:cs typeface="Trebuchet MS"/>
            </a:endParaRPr>
          </a:p>
          <a:p>
            <a:pPr marL="644525" indent="-18288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644525" algn="l"/>
              </a:tabLst>
            </a:pPr>
            <a:r>
              <a:rPr sz="1300" dirty="0">
                <a:solidFill>
                  <a:srgbClr val="252525"/>
                </a:solidFill>
                <a:latin typeface="Trebuchet MS"/>
                <a:cs typeface="Trebuchet MS"/>
              </a:rPr>
              <a:t>Only</a:t>
            </a:r>
            <a:r>
              <a:rPr sz="1300" spc="-6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252525"/>
                </a:solidFill>
                <a:latin typeface="Trebuchet MS"/>
                <a:cs typeface="Trebuchet MS"/>
              </a:rPr>
              <a:t>even</a:t>
            </a:r>
            <a:r>
              <a:rPr sz="1300" spc="-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252525"/>
                </a:solidFill>
                <a:latin typeface="Trebuchet MS"/>
                <a:cs typeface="Trebuchet MS"/>
              </a:rPr>
              <a:t>numbers</a:t>
            </a:r>
            <a:r>
              <a:rPr sz="1300" spc="-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30" dirty="0">
                <a:solidFill>
                  <a:srgbClr val="252525"/>
                </a:solidFill>
                <a:latin typeface="Trebuchet MS"/>
                <a:cs typeface="Trebuchet MS"/>
              </a:rPr>
              <a:t>are</a:t>
            </a:r>
            <a:r>
              <a:rPr sz="1300" spc="-6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252525"/>
                </a:solidFill>
                <a:latin typeface="Trebuchet MS"/>
                <a:cs typeface="Trebuchet MS"/>
              </a:rPr>
              <a:t>returned.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56133" y="2057273"/>
            <a:ext cx="8787765" cy="2076450"/>
            <a:chOff x="556133" y="2057273"/>
            <a:chExt cx="8787765" cy="2076450"/>
          </a:xfrm>
        </p:grpSpPr>
        <p:sp>
          <p:nvSpPr>
            <p:cNvPr id="11" name="object 11"/>
            <p:cNvSpPr/>
            <p:nvPr/>
          </p:nvSpPr>
          <p:spPr>
            <a:xfrm>
              <a:off x="559308" y="2060448"/>
              <a:ext cx="8781415" cy="2070100"/>
            </a:xfrm>
            <a:custGeom>
              <a:avLst/>
              <a:gdLst/>
              <a:ahLst/>
              <a:cxnLst/>
              <a:rect l="l" t="t" r="r" b="b"/>
              <a:pathLst>
                <a:path w="8781415" h="2070100">
                  <a:moveTo>
                    <a:pt x="0" y="2069591"/>
                  </a:moveTo>
                  <a:lnTo>
                    <a:pt x="8781288" y="2069591"/>
                  </a:lnTo>
                  <a:lnTo>
                    <a:pt x="8781288" y="0"/>
                  </a:lnTo>
                  <a:lnTo>
                    <a:pt x="0" y="0"/>
                  </a:lnTo>
                  <a:lnTo>
                    <a:pt x="0" y="2069591"/>
                  </a:lnTo>
                  <a:close/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1065" y="2147006"/>
              <a:ext cx="8544375" cy="1882921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6072" y="1424939"/>
            <a:ext cx="3886962" cy="19583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0851" y="1766316"/>
            <a:ext cx="1844802" cy="16535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31D4F1-58A8-8D7A-4E5B-BB0B9616AF4C}"/>
              </a:ext>
            </a:extLst>
          </p:cNvPr>
          <p:cNvSpPr txBox="1"/>
          <p:nvPr/>
        </p:nvSpPr>
        <p:spPr>
          <a:xfrm>
            <a:off x="762000" y="1066800"/>
            <a:ext cx="495582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Code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import </a:t>
            </a:r>
            <a:r>
              <a:rPr lang="en-US" dirty="0" err="1">
                <a:latin typeface="Courier New" panose="02070309020205020404" pitchFamily="49" charset="0"/>
              </a:rPr>
              <a:t>numpy</a:t>
            </a:r>
            <a:r>
              <a:rPr lang="en-US" dirty="0">
                <a:latin typeface="Courier New" panose="02070309020205020404" pitchFamily="49" charset="0"/>
              </a:rPr>
              <a:t> as np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a = </a:t>
            </a:r>
            <a:r>
              <a:rPr lang="en-US" dirty="0" err="1">
                <a:latin typeface="Courier New" panose="02070309020205020404" pitchFamily="49" charset="0"/>
              </a:rPr>
              <a:t>np.array</a:t>
            </a:r>
            <a:r>
              <a:rPr lang="en-US" dirty="0">
                <a:latin typeface="Courier New" panose="02070309020205020404" pitchFamily="49" charset="0"/>
              </a:rPr>
              <a:t>([1, 2, 3, 4, 5, 6])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# Select elements greater than 3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a[a &gt; 3]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# Select even numbers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a[a % 2 == 0]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&gt;&gt;&gt; a[a &gt; 3]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array([4, 5, 6])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&gt;&gt;&gt; a[a % 2 == 0]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array([2, 4, 6])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E8C1C5-7AC8-95A5-7D1E-0FCB83602EBE}"/>
              </a:ext>
            </a:extLst>
          </p:cNvPr>
          <p:cNvSpPr txBox="1"/>
          <p:nvPr/>
        </p:nvSpPr>
        <p:spPr>
          <a:xfrm>
            <a:off x="4648200" y="4267200"/>
            <a:ext cx="49558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technique is called </a:t>
            </a:r>
            <a:r>
              <a:rPr lang="en-US" b="1" dirty="0">
                <a:solidFill>
                  <a:srgbClr val="FF0000"/>
                </a:solidFill>
              </a:rPr>
              <a:t>Boolean (Conditional) Indexing</a:t>
            </a:r>
            <a:r>
              <a:rPr lang="en-US" dirty="0"/>
              <a:t>, where NumPy selects only the elements that satisfy the given condition.</a:t>
            </a:r>
          </a:p>
        </p:txBody>
      </p:sp>
    </p:spTree>
    <p:extLst>
      <p:ext uri="{BB962C8B-B14F-4D97-AF65-F5344CB8AC3E}">
        <p14:creationId xmlns:p14="http://schemas.microsoft.com/office/powerpoint/2010/main" val="3173964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81180" y="6524444"/>
            <a:ext cx="165333" cy="8590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531" y="6510528"/>
            <a:ext cx="2044445" cy="1607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7892" y="6533388"/>
            <a:ext cx="1677161" cy="10439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1104" y="1409687"/>
            <a:ext cx="1879854" cy="33910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54040" y="2171446"/>
            <a:ext cx="8407146" cy="116052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22275"/>
            <a:ext cx="2976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1.4.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NumPy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Indexing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Slicing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12530" y="456056"/>
            <a:ext cx="668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Calibri"/>
                <a:cs typeface="Calibri"/>
              </a:rPr>
              <a:t>UNIT</a:t>
            </a:r>
            <a:r>
              <a:rPr sz="1600" spc="-4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600" b="1" spc="-114" dirty="0">
                <a:solidFill>
                  <a:srgbClr val="D9D9D9"/>
                </a:solidFill>
                <a:latin typeface="Arial"/>
                <a:cs typeface="Arial"/>
              </a:rPr>
              <a:t>01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76081" y="3484885"/>
            <a:ext cx="8787765" cy="1101090"/>
            <a:chOff x="557656" y="3497453"/>
            <a:chExt cx="8787765" cy="1101090"/>
          </a:xfrm>
        </p:grpSpPr>
        <p:sp>
          <p:nvSpPr>
            <p:cNvPr id="10" name="object 10"/>
            <p:cNvSpPr/>
            <p:nvPr/>
          </p:nvSpPr>
          <p:spPr>
            <a:xfrm>
              <a:off x="560831" y="3500628"/>
              <a:ext cx="8781415" cy="1094740"/>
            </a:xfrm>
            <a:custGeom>
              <a:avLst/>
              <a:gdLst/>
              <a:ahLst/>
              <a:cxnLst/>
              <a:rect l="l" t="t" r="r" b="b"/>
              <a:pathLst>
                <a:path w="8781415" h="1094739">
                  <a:moveTo>
                    <a:pt x="0" y="1094232"/>
                  </a:moveTo>
                  <a:lnTo>
                    <a:pt x="8781288" y="1094232"/>
                  </a:lnTo>
                  <a:lnTo>
                    <a:pt x="8781288" y="0"/>
                  </a:lnTo>
                  <a:lnTo>
                    <a:pt x="0" y="0"/>
                  </a:lnTo>
                  <a:lnTo>
                    <a:pt x="0" y="1094232"/>
                  </a:lnTo>
                  <a:close/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8179" y="3585997"/>
              <a:ext cx="8650172" cy="889071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6072" y="1879092"/>
            <a:ext cx="8675370" cy="19583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004DF79-F381-0EF3-E80D-1A5CDB13C205}"/>
              </a:ext>
            </a:extLst>
          </p:cNvPr>
          <p:cNvSpPr txBox="1"/>
          <p:nvPr/>
        </p:nvSpPr>
        <p:spPr>
          <a:xfrm>
            <a:off x="576072" y="4656880"/>
            <a:ext cx="591616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Code</a:t>
            </a:r>
          </a:p>
          <a:p>
            <a:pPr rtl="0">
              <a:buNone/>
            </a:pPr>
            <a:r>
              <a:rPr lang="en-US" sz="1400" dirty="0">
                <a:latin typeface="Courier New" panose="02070309020205020404" pitchFamily="49" charset="0"/>
              </a:rPr>
              <a:t>import </a:t>
            </a:r>
            <a:r>
              <a:rPr lang="en-US" sz="1400" dirty="0" err="1">
                <a:latin typeface="Courier New" panose="02070309020205020404" pitchFamily="49" charset="0"/>
              </a:rPr>
              <a:t>numpy</a:t>
            </a:r>
            <a:r>
              <a:rPr lang="en-US" sz="1400" dirty="0">
                <a:latin typeface="Courier New" panose="02070309020205020404" pitchFamily="49" charset="0"/>
              </a:rPr>
              <a:t> as np</a:t>
            </a:r>
          </a:p>
          <a:p>
            <a:pPr rtl="0">
              <a:buNone/>
            </a:pPr>
            <a:endParaRPr lang="en-US" sz="1400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sz="1400" dirty="0">
                <a:latin typeface="Courier New" panose="02070309020205020404" pitchFamily="49" charset="0"/>
              </a:rPr>
              <a:t># Create a 1D array</a:t>
            </a:r>
          </a:p>
          <a:p>
            <a:pPr rtl="0">
              <a:buNone/>
            </a:pPr>
            <a:r>
              <a:rPr lang="en-US" sz="1400" dirty="0">
                <a:latin typeface="Courier New" panose="02070309020205020404" pitchFamily="49" charset="0"/>
              </a:rPr>
              <a:t>b1 = </a:t>
            </a:r>
            <a:r>
              <a:rPr lang="en-US" sz="1400" dirty="0" err="1">
                <a:latin typeface="Courier New" panose="02070309020205020404" pitchFamily="49" charset="0"/>
              </a:rPr>
              <a:t>np.array</a:t>
            </a:r>
            <a:r>
              <a:rPr lang="en-US" sz="1400" dirty="0">
                <a:latin typeface="Courier New" panose="02070309020205020404" pitchFamily="49" charset="0"/>
              </a:rPr>
              <a:t>([0, 10, 20, 30, 40, 50])</a:t>
            </a:r>
          </a:p>
          <a:p>
            <a:pPr rtl="0">
              <a:buNone/>
            </a:pPr>
            <a:endParaRPr lang="en-US" sz="1400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sz="1400" dirty="0">
                <a:latin typeface="Courier New" panose="02070309020205020404" pitchFamily="49" charset="0"/>
              </a:rPr>
              <a:t># Slice the array from index 1 to index 3</a:t>
            </a:r>
          </a:p>
          <a:p>
            <a:pPr rtl="0">
              <a:buNone/>
            </a:pPr>
            <a:r>
              <a:rPr lang="en-US" sz="1400" dirty="0">
                <a:latin typeface="Courier New" panose="02070309020205020404" pitchFamily="49" charset="0"/>
              </a:rPr>
              <a:t>print(b1[1:4])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725ECF-931A-763A-0A43-66179CDACCAE}"/>
              </a:ext>
            </a:extLst>
          </p:cNvPr>
          <p:cNvSpPr txBox="1"/>
          <p:nvPr/>
        </p:nvSpPr>
        <p:spPr>
          <a:xfrm>
            <a:off x="7848600" y="4909279"/>
            <a:ext cx="49558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[10 20 30]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36ADDC-3A47-31E4-D473-261CA2A35507}"/>
              </a:ext>
            </a:extLst>
          </p:cNvPr>
          <p:cNvSpPr txBox="1"/>
          <p:nvPr/>
        </p:nvSpPr>
        <p:spPr>
          <a:xfrm>
            <a:off x="457200" y="1143000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Consider this 3 × 3 array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import </a:t>
            </a:r>
            <a:r>
              <a:rPr lang="en-US" dirty="0" err="1">
                <a:latin typeface="Courier New" panose="02070309020205020404" pitchFamily="49" charset="0"/>
              </a:rPr>
              <a:t>numpy</a:t>
            </a:r>
            <a:r>
              <a:rPr lang="en-US" dirty="0">
                <a:latin typeface="Courier New" panose="02070309020205020404" pitchFamily="49" charset="0"/>
              </a:rPr>
              <a:t> as np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arr</a:t>
            </a:r>
            <a:r>
              <a:rPr lang="en-US" dirty="0">
                <a:latin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</a:rPr>
              <a:t>np.array</a:t>
            </a:r>
            <a:r>
              <a:rPr lang="en-US" dirty="0">
                <a:latin typeface="Courier New" panose="02070309020205020404" pitchFamily="49" charset="0"/>
              </a:rPr>
              <a:t>([[1, 2, 3],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        [4, 5, 6],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        [7, 8, 9]])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print(</a:t>
            </a:r>
            <a:r>
              <a:rPr lang="en-US" dirty="0" err="1">
                <a:latin typeface="Courier New" panose="02070309020205020404" pitchFamily="49" charset="0"/>
              </a:rPr>
              <a:t>arr</a:t>
            </a:r>
            <a:r>
              <a:rPr lang="en-US" dirty="0"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[[1 2 3]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[4 5 6]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[7 8 9]]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66915E4-9BD5-8BE6-D2DD-BADAAFD789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844279"/>
              </p:ext>
            </p:extLst>
          </p:nvPr>
        </p:nvGraphicFramePr>
        <p:xfrm>
          <a:off x="1905000" y="4648200"/>
          <a:ext cx="7772400" cy="146304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312972642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764848269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3957395954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4213771256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Row \ Column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757686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0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826858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1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59417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2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1245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25431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8A86D04-AE5A-CF8A-F6F8-7014D9EF8B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053791"/>
              </p:ext>
            </p:extLst>
          </p:nvPr>
        </p:nvGraphicFramePr>
        <p:xfrm>
          <a:off x="1219200" y="1295400"/>
          <a:ext cx="7086600" cy="219456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771650">
                  <a:extLst>
                    <a:ext uri="{9D8B030D-6E8A-4147-A177-3AD203B41FA5}">
                      <a16:colId xmlns:a16="http://schemas.microsoft.com/office/drawing/2014/main" val="2312972642"/>
                    </a:ext>
                  </a:extLst>
                </a:gridCol>
                <a:gridCol w="1771650">
                  <a:extLst>
                    <a:ext uri="{9D8B030D-6E8A-4147-A177-3AD203B41FA5}">
                      <a16:colId xmlns:a16="http://schemas.microsoft.com/office/drawing/2014/main" val="764848269"/>
                    </a:ext>
                  </a:extLst>
                </a:gridCol>
                <a:gridCol w="1771650">
                  <a:extLst>
                    <a:ext uri="{9D8B030D-6E8A-4147-A177-3AD203B41FA5}">
                      <a16:colId xmlns:a16="http://schemas.microsoft.com/office/drawing/2014/main" val="3957395954"/>
                    </a:ext>
                  </a:extLst>
                </a:gridCol>
                <a:gridCol w="1771650">
                  <a:extLst>
                    <a:ext uri="{9D8B030D-6E8A-4147-A177-3AD203B41FA5}">
                      <a16:colId xmlns:a16="http://schemas.microsoft.com/office/drawing/2014/main" val="4213771256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Row \ Column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757686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/>
                        <a:t>0</a:t>
                      </a:r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826858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/>
                        <a:t>1</a:t>
                      </a:r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59417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/>
                        <a:t>2</a:t>
                      </a:r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124503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01B47EA-FDC3-0BF5-B029-C9B1DE83C4BB}"/>
              </a:ext>
            </a:extLst>
          </p:cNvPr>
          <p:cNvSpPr txBox="1"/>
          <p:nvPr/>
        </p:nvSpPr>
        <p:spPr>
          <a:xfrm>
            <a:off x="1219200" y="3810000"/>
            <a:ext cx="495582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Every element has </a:t>
            </a:r>
            <a:r>
              <a:rPr lang="en-US" b="1" dirty="0"/>
              <a:t>two addresses</a:t>
            </a:r>
            <a:r>
              <a:rPr lang="en-US" dirty="0"/>
              <a:t>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Row number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Column number </a:t>
            </a:r>
          </a:p>
          <a:p>
            <a:pPr>
              <a:buNone/>
            </a:pPr>
            <a:r>
              <a:rPr lang="en-US" dirty="0"/>
              <a:t>For example,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5 is at (1,1)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8 is at (2,1)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3 is at (0,2)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4FEA39-3984-38A8-4DF4-AA30F2CA8C22}"/>
              </a:ext>
            </a:extLst>
          </p:cNvPr>
          <p:cNvSpPr txBox="1"/>
          <p:nvPr/>
        </p:nvSpPr>
        <p:spPr>
          <a:xfrm>
            <a:off x="3962400" y="4489330"/>
            <a:ext cx="3502378" cy="1580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arr</a:t>
            </a:r>
            <a:r>
              <a:rPr lang="en-US" dirty="0"/>
              <a:t> [1,2]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Go to Row 1 and Column 2.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Output</a:t>
            </a:r>
          </a:p>
          <a:p>
            <a:pPr rtl="0">
              <a:lnSpc>
                <a:spcPct val="150000"/>
              </a:lnSpc>
              <a:buNone/>
            </a:pPr>
            <a:r>
              <a:rPr lang="en-US" dirty="0">
                <a:latin typeface="Courier New" panose="02070309020205020404" pitchFamily="49" charset="0"/>
              </a:rPr>
              <a:t>6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D57CFC-D641-0EE0-6D3D-0430E4D310A1}"/>
              </a:ext>
            </a:extLst>
          </p:cNvPr>
          <p:cNvSpPr txBox="1"/>
          <p:nvPr/>
        </p:nvSpPr>
        <p:spPr>
          <a:xfrm>
            <a:off x="7086600" y="4419600"/>
            <a:ext cx="2667000" cy="1719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150000"/>
              </a:lnSpc>
              <a:buNone/>
            </a:pPr>
            <a:r>
              <a:rPr lang="en-US" dirty="0" err="1"/>
              <a:t>arr</a:t>
            </a:r>
            <a:r>
              <a:rPr lang="en-US" dirty="0"/>
              <a:t> [2,0]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Go to Row 2 Column 0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Output</a:t>
            </a:r>
          </a:p>
          <a:p>
            <a:pPr rtl="0">
              <a:lnSpc>
                <a:spcPct val="150000"/>
              </a:lnSpc>
              <a:buNone/>
            </a:pPr>
            <a:r>
              <a:rPr lang="en-US" dirty="0">
                <a:latin typeface="Courier New" panose="02070309020205020404" pitchFamily="49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3759893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C49BCF2-22E1-0A3F-29D7-BE062505E662}"/>
              </a:ext>
            </a:extLst>
          </p:cNvPr>
          <p:cNvSpPr txBox="1"/>
          <p:nvPr/>
        </p:nvSpPr>
        <p:spPr>
          <a:xfrm>
            <a:off x="457200" y="1882801"/>
            <a:ext cx="495582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The colon simply means</a:t>
            </a:r>
          </a:p>
          <a:p>
            <a:pPr rtl="0">
              <a:buNone/>
            </a:pPr>
            <a:r>
              <a:rPr lang="en-US" sz="2400" dirty="0">
                <a:latin typeface="Courier New" panose="02070309020205020404" pitchFamily="49" charset="0"/>
              </a:rPr>
              <a:t>start : end</a:t>
            </a:r>
          </a:p>
          <a:p>
            <a:pPr>
              <a:buNone/>
            </a:pPr>
            <a:r>
              <a:rPr lang="en-US" sz="2400" dirty="0"/>
              <a:t>where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start is included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end is excluded </a:t>
            </a:r>
          </a:p>
          <a:p>
            <a:pPr>
              <a:buNone/>
            </a:pPr>
            <a:r>
              <a:rPr lang="en-US" sz="2400" dirty="0"/>
              <a:t>Example</a:t>
            </a:r>
          </a:p>
          <a:p>
            <a:pPr rtl="0">
              <a:buNone/>
            </a:pPr>
            <a:r>
              <a:rPr lang="en-US" sz="2400" dirty="0">
                <a:latin typeface="Courier New" panose="02070309020205020404" pitchFamily="49" charset="0"/>
              </a:rPr>
              <a:t>1:3</a:t>
            </a:r>
          </a:p>
          <a:p>
            <a:pPr>
              <a:buNone/>
            </a:pPr>
            <a:r>
              <a:rPr lang="en-US" sz="2400" dirty="0"/>
              <a:t>means</a:t>
            </a:r>
          </a:p>
          <a:p>
            <a:pPr rtl="0">
              <a:buNone/>
            </a:pPr>
            <a:r>
              <a:rPr lang="en-US" sz="2400" dirty="0">
                <a:latin typeface="Courier New" panose="02070309020205020404" pitchFamily="49" charset="0"/>
              </a:rPr>
              <a:t>1,2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587409-91B8-6223-ECE0-7ACC5690A18F}"/>
              </a:ext>
            </a:extLst>
          </p:cNvPr>
          <p:cNvSpPr txBox="1"/>
          <p:nvPr/>
        </p:nvSpPr>
        <p:spPr>
          <a:xfrm>
            <a:off x="5181600" y="2252133"/>
            <a:ext cx="495582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400" dirty="0">
                <a:latin typeface="Courier New" panose="02070309020205020404" pitchFamily="49" charset="0"/>
              </a:rPr>
              <a:t>:2</a:t>
            </a:r>
          </a:p>
          <a:p>
            <a:pPr>
              <a:buNone/>
            </a:pPr>
            <a:r>
              <a:rPr lang="en-US" sz="2400" dirty="0"/>
              <a:t>means</a:t>
            </a:r>
          </a:p>
          <a:p>
            <a:pPr rtl="0">
              <a:buNone/>
            </a:pPr>
            <a:r>
              <a:rPr lang="en-US" sz="2400" dirty="0">
                <a:latin typeface="Courier New" panose="02070309020205020404" pitchFamily="49" charset="0"/>
              </a:rPr>
              <a:t>0,1</a:t>
            </a:r>
          </a:p>
          <a:p>
            <a:pPr>
              <a:buNone/>
            </a:pPr>
            <a:r>
              <a:rPr lang="en-US" sz="2400" dirty="0"/>
              <a:t>because it starts from 0.</a:t>
            </a:r>
          </a:p>
          <a:p>
            <a:pPr>
              <a:buNone/>
            </a:pPr>
            <a:r>
              <a:rPr lang="en-US" sz="2400" dirty="0"/>
              <a:t>And</a:t>
            </a:r>
          </a:p>
          <a:p>
            <a:pPr rtl="0">
              <a:buNone/>
            </a:pPr>
            <a:r>
              <a:rPr lang="en-US" sz="2400" dirty="0">
                <a:latin typeface="Courier New" panose="02070309020205020404" pitchFamily="49" charset="0"/>
              </a:rPr>
              <a:t>1:</a:t>
            </a:r>
          </a:p>
          <a:p>
            <a:pPr>
              <a:buNone/>
            </a:pPr>
            <a:r>
              <a:rPr lang="en-US" sz="2400" dirty="0"/>
              <a:t>means</a:t>
            </a:r>
          </a:p>
          <a:p>
            <a:pPr rtl="0">
              <a:buNone/>
            </a:pPr>
            <a:r>
              <a:rPr lang="en-US" sz="2400" dirty="0">
                <a:latin typeface="Courier New" panose="02070309020205020404" pitchFamily="49" charset="0"/>
              </a:rPr>
              <a:t>1 till the end</a:t>
            </a:r>
          </a:p>
        </p:txBody>
      </p:sp>
    </p:spTree>
    <p:extLst>
      <p:ext uri="{BB962C8B-B14F-4D97-AF65-F5344CB8AC3E}">
        <p14:creationId xmlns:p14="http://schemas.microsoft.com/office/powerpoint/2010/main" val="8436293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2116" y="6524444"/>
            <a:ext cx="172873" cy="8590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531" y="6510528"/>
            <a:ext cx="2044445" cy="1607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7892" y="6533388"/>
            <a:ext cx="1677161" cy="10439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22275"/>
            <a:ext cx="2976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1.4.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NumPy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Indexing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Slicing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12530" y="456056"/>
            <a:ext cx="668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Calibri"/>
                <a:cs typeface="Calibri"/>
              </a:rPr>
              <a:t>UNIT</a:t>
            </a:r>
            <a:r>
              <a:rPr sz="1600" spc="-4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600" b="1" spc="-114" dirty="0">
                <a:solidFill>
                  <a:srgbClr val="D9D9D9"/>
                </a:solidFill>
                <a:latin typeface="Arial"/>
                <a:cs typeface="Arial"/>
              </a:rPr>
              <a:t>01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56133" y="2247773"/>
            <a:ext cx="8787765" cy="1616075"/>
            <a:chOff x="556133" y="2247773"/>
            <a:chExt cx="8787765" cy="1616075"/>
          </a:xfrm>
        </p:grpSpPr>
        <p:sp>
          <p:nvSpPr>
            <p:cNvPr id="8" name="object 8"/>
            <p:cNvSpPr/>
            <p:nvPr/>
          </p:nvSpPr>
          <p:spPr>
            <a:xfrm>
              <a:off x="559308" y="2250948"/>
              <a:ext cx="8781415" cy="1609725"/>
            </a:xfrm>
            <a:custGeom>
              <a:avLst/>
              <a:gdLst/>
              <a:ahLst/>
              <a:cxnLst/>
              <a:rect l="l" t="t" r="r" b="b"/>
              <a:pathLst>
                <a:path w="8781415" h="1609725">
                  <a:moveTo>
                    <a:pt x="0" y="1609344"/>
                  </a:moveTo>
                  <a:lnTo>
                    <a:pt x="8781288" y="1609344"/>
                  </a:lnTo>
                  <a:lnTo>
                    <a:pt x="8781288" y="0"/>
                  </a:lnTo>
                  <a:lnTo>
                    <a:pt x="0" y="0"/>
                  </a:lnTo>
                  <a:lnTo>
                    <a:pt x="0" y="1609344"/>
                  </a:lnTo>
                  <a:close/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5427" y="2317509"/>
              <a:ext cx="8604782" cy="1431018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0671" y="1429602"/>
            <a:ext cx="630146" cy="19117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0851" y="1764792"/>
            <a:ext cx="8173974" cy="33147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ACE3ED-C056-65CA-D4FC-8285DFD29AB5}"/>
              </a:ext>
            </a:extLst>
          </p:cNvPr>
          <p:cNvSpPr txBox="1"/>
          <p:nvPr/>
        </p:nvSpPr>
        <p:spPr>
          <a:xfrm>
            <a:off x="375356" y="1859339"/>
            <a:ext cx="58674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Code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import </a:t>
            </a:r>
            <a:r>
              <a:rPr lang="en-US" dirty="0" err="1">
                <a:latin typeface="Courier New" panose="02070309020205020404" pitchFamily="49" charset="0"/>
              </a:rPr>
              <a:t>numpy</a:t>
            </a:r>
            <a:r>
              <a:rPr lang="en-US" dirty="0">
                <a:latin typeface="Courier New" panose="02070309020205020404" pitchFamily="49" charset="0"/>
              </a:rPr>
              <a:t> as np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# Create a 1D array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b1 = </a:t>
            </a:r>
            <a:r>
              <a:rPr lang="en-US" dirty="0" err="1">
                <a:latin typeface="Courier New" panose="02070309020205020404" pitchFamily="49" charset="0"/>
              </a:rPr>
              <a:t>np.array</a:t>
            </a:r>
            <a:r>
              <a:rPr lang="en-US" dirty="0">
                <a:latin typeface="Courier New" panose="02070309020205020404" pitchFamily="49" charset="0"/>
              </a:rPr>
              <a:t>([0, 10, 20, 30, 40, 50])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# Slice from the beginning to index 2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print(b1[:3])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# Slice from index 2 to the end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print(b1[2:])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120C36-CCE1-2476-E0D2-35C749C78B37}"/>
              </a:ext>
            </a:extLst>
          </p:cNvPr>
          <p:cNvSpPr txBox="1"/>
          <p:nvPr/>
        </p:nvSpPr>
        <p:spPr>
          <a:xfrm>
            <a:off x="6248400" y="2438400"/>
            <a:ext cx="495582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[ 0 10 20]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[20 30 40 50]</a:t>
            </a:r>
          </a:p>
        </p:txBody>
      </p:sp>
    </p:spTree>
    <p:extLst>
      <p:ext uri="{BB962C8B-B14F-4D97-AF65-F5344CB8AC3E}">
        <p14:creationId xmlns:p14="http://schemas.microsoft.com/office/powerpoint/2010/main" val="35724333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0422" y="6525888"/>
            <a:ext cx="145422" cy="8446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531" y="6510528"/>
            <a:ext cx="2044445" cy="1607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7892" y="6533388"/>
            <a:ext cx="1677161" cy="104394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1.4.</a:t>
            </a:r>
            <a:r>
              <a:rPr spc="-50" dirty="0"/>
              <a:t> </a:t>
            </a:r>
            <a:r>
              <a:rPr dirty="0"/>
              <a:t>NumPy</a:t>
            </a:r>
            <a:r>
              <a:rPr spc="-45" dirty="0"/>
              <a:t> </a:t>
            </a:r>
            <a:r>
              <a:rPr dirty="0"/>
              <a:t>Indexing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Slicing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812530" y="456056"/>
            <a:ext cx="668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Calibri"/>
                <a:cs typeface="Calibri"/>
              </a:rPr>
              <a:t>UNIT</a:t>
            </a:r>
            <a:r>
              <a:rPr sz="1600" spc="-4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600" b="1" spc="-114" dirty="0">
                <a:solidFill>
                  <a:srgbClr val="D9D9D9"/>
                </a:solidFill>
                <a:latin typeface="Arial"/>
                <a:cs typeface="Arial"/>
              </a:rPr>
              <a:t>01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56133" y="2057273"/>
            <a:ext cx="8787765" cy="1545590"/>
            <a:chOff x="556133" y="2057273"/>
            <a:chExt cx="8787765" cy="1545590"/>
          </a:xfrm>
        </p:grpSpPr>
        <p:sp>
          <p:nvSpPr>
            <p:cNvPr id="8" name="object 8"/>
            <p:cNvSpPr/>
            <p:nvPr/>
          </p:nvSpPr>
          <p:spPr>
            <a:xfrm>
              <a:off x="559308" y="2060448"/>
              <a:ext cx="8781415" cy="1539240"/>
            </a:xfrm>
            <a:custGeom>
              <a:avLst/>
              <a:gdLst/>
              <a:ahLst/>
              <a:cxnLst/>
              <a:rect l="l" t="t" r="r" b="b"/>
              <a:pathLst>
                <a:path w="8781415" h="1539239">
                  <a:moveTo>
                    <a:pt x="0" y="1539239"/>
                  </a:moveTo>
                  <a:lnTo>
                    <a:pt x="8781288" y="1539239"/>
                  </a:lnTo>
                  <a:lnTo>
                    <a:pt x="8781288" y="0"/>
                  </a:lnTo>
                  <a:lnTo>
                    <a:pt x="0" y="0"/>
                  </a:lnTo>
                  <a:lnTo>
                    <a:pt x="0" y="1539239"/>
                  </a:lnTo>
                  <a:close/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3602" y="2111756"/>
              <a:ext cx="8592277" cy="1419352"/>
            </a:xfrm>
            <a:prstGeom prst="rect">
              <a:avLst/>
            </a:prstGeom>
          </p:spPr>
        </p:pic>
      </p:grpSp>
      <p:pic>
        <p:nvPicPr>
          <p:cNvPr id="10" name="object 10" descr="Byte - Free electronics icons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5176" y="5324386"/>
            <a:ext cx="215406" cy="20900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57783" y="5215128"/>
            <a:ext cx="8781415" cy="725805"/>
          </a:xfrm>
          <a:prstGeom prst="rect">
            <a:avLst/>
          </a:prstGeom>
          <a:ln w="6350">
            <a:solidFill>
              <a:srgbClr val="D9D9D9"/>
            </a:solidFill>
          </a:ln>
        </p:spPr>
        <p:txBody>
          <a:bodyPr vert="horz" wrap="square" lIns="0" tIns="107314" rIns="0" bIns="0" rtlCol="0">
            <a:spAutoFit/>
          </a:bodyPr>
          <a:lstStyle/>
          <a:p>
            <a:pPr marL="454659">
              <a:lnSpc>
                <a:spcPct val="100000"/>
              </a:lnSpc>
              <a:spcBef>
                <a:spcPts val="844"/>
              </a:spcBef>
            </a:pPr>
            <a:r>
              <a:rPr sz="1300" b="1" spc="-60" dirty="0">
                <a:solidFill>
                  <a:srgbClr val="252525"/>
                </a:solidFill>
                <a:latin typeface="Trebuchet MS"/>
                <a:cs typeface="Trebuchet MS"/>
              </a:rPr>
              <a:t>Line</a:t>
            </a:r>
            <a:r>
              <a:rPr sz="1300" b="1" spc="-114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b="1" spc="-25" dirty="0">
                <a:solidFill>
                  <a:srgbClr val="252525"/>
                </a:solidFill>
                <a:latin typeface="Trebuchet MS"/>
                <a:cs typeface="Trebuchet MS"/>
              </a:rPr>
              <a:t>26</a:t>
            </a:r>
            <a:endParaRPr sz="1300">
              <a:latin typeface="Trebuchet MS"/>
              <a:cs typeface="Trebuchet MS"/>
            </a:endParaRPr>
          </a:p>
          <a:p>
            <a:pPr marL="647065" indent="-182880">
              <a:lnSpc>
                <a:spcPct val="100000"/>
              </a:lnSpc>
              <a:spcBef>
                <a:spcPts val="715"/>
              </a:spcBef>
              <a:buFont typeface="Arial MT"/>
              <a:buChar char="•"/>
              <a:tabLst>
                <a:tab pos="647065" algn="l"/>
              </a:tabLst>
            </a:pPr>
            <a:r>
              <a:rPr sz="1300" dirty="0">
                <a:solidFill>
                  <a:srgbClr val="252525"/>
                </a:solidFill>
                <a:latin typeface="Trebuchet MS"/>
                <a:cs typeface="Trebuchet MS"/>
              </a:rPr>
              <a:t>Choose</a:t>
            </a:r>
            <a:r>
              <a:rPr sz="1300" spc="-9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252525"/>
                </a:solidFill>
                <a:latin typeface="Trebuchet MS"/>
                <a:cs typeface="Trebuchet MS"/>
              </a:rPr>
              <a:t>from</a:t>
            </a:r>
            <a:r>
              <a:rPr sz="1300" spc="-9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30" dirty="0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sz="1300" spc="-8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252525"/>
                </a:solidFill>
                <a:latin typeface="Trebuchet MS"/>
                <a:cs typeface="Trebuchet MS"/>
              </a:rPr>
              <a:t>beginning</a:t>
            </a:r>
            <a:r>
              <a:rPr sz="1300" spc="-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5" dirty="0">
                <a:solidFill>
                  <a:srgbClr val="252525"/>
                </a:solidFill>
                <a:latin typeface="Trebuchet MS"/>
                <a:cs typeface="Trebuchet MS"/>
              </a:rPr>
              <a:t>to</a:t>
            </a:r>
            <a:r>
              <a:rPr sz="1300" spc="-8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5" dirty="0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sz="1300" spc="-8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252525"/>
                </a:solidFill>
                <a:latin typeface="Trebuchet MS"/>
                <a:cs typeface="Trebuchet MS"/>
              </a:rPr>
              <a:t>second</a:t>
            </a:r>
            <a:r>
              <a:rPr sz="1300" spc="-10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25" dirty="0">
                <a:solidFill>
                  <a:srgbClr val="252525"/>
                </a:solidFill>
                <a:latin typeface="Trebuchet MS"/>
                <a:cs typeface="Trebuchet MS"/>
              </a:rPr>
              <a:t>line</a:t>
            </a:r>
            <a:r>
              <a:rPr sz="1300" spc="-6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252525"/>
                </a:solidFill>
                <a:latin typeface="Trebuchet MS"/>
                <a:cs typeface="Trebuchet MS"/>
              </a:rPr>
              <a:t>of</a:t>
            </a:r>
            <a:r>
              <a:rPr sz="1300" spc="-1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252525"/>
                </a:solidFill>
                <a:latin typeface="Trebuchet MS"/>
                <a:cs typeface="Trebuchet MS"/>
              </a:rPr>
              <a:t>“arr2d.”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56133" y="4073525"/>
            <a:ext cx="8787765" cy="1068705"/>
            <a:chOff x="556133" y="4073525"/>
            <a:chExt cx="8787765" cy="1068705"/>
          </a:xfrm>
        </p:grpSpPr>
        <p:sp>
          <p:nvSpPr>
            <p:cNvPr id="13" name="object 13"/>
            <p:cNvSpPr/>
            <p:nvPr/>
          </p:nvSpPr>
          <p:spPr>
            <a:xfrm>
              <a:off x="559308" y="4076700"/>
              <a:ext cx="8781415" cy="1062355"/>
            </a:xfrm>
            <a:custGeom>
              <a:avLst/>
              <a:gdLst/>
              <a:ahLst/>
              <a:cxnLst/>
              <a:rect l="l" t="t" r="r" b="b"/>
              <a:pathLst>
                <a:path w="8781415" h="1062354">
                  <a:moveTo>
                    <a:pt x="0" y="1062227"/>
                  </a:moveTo>
                  <a:lnTo>
                    <a:pt x="8781288" y="1062227"/>
                  </a:lnTo>
                  <a:lnTo>
                    <a:pt x="8781288" y="0"/>
                  </a:lnTo>
                  <a:lnTo>
                    <a:pt x="0" y="0"/>
                  </a:lnTo>
                  <a:lnTo>
                    <a:pt x="0" y="1062227"/>
                  </a:lnTo>
                  <a:close/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2059" y="4165682"/>
              <a:ext cx="8613375" cy="82101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339340" y="4264152"/>
              <a:ext cx="3736975" cy="241300"/>
            </a:xfrm>
            <a:custGeom>
              <a:avLst/>
              <a:gdLst/>
              <a:ahLst/>
              <a:cxnLst/>
              <a:rect l="l" t="t" r="r" b="b"/>
              <a:pathLst>
                <a:path w="3736975" h="241300">
                  <a:moveTo>
                    <a:pt x="3736848" y="0"/>
                  </a:moveTo>
                  <a:lnTo>
                    <a:pt x="0" y="0"/>
                  </a:lnTo>
                  <a:lnTo>
                    <a:pt x="0" y="240792"/>
                  </a:lnTo>
                  <a:lnTo>
                    <a:pt x="3736848" y="240792"/>
                  </a:lnTo>
                  <a:lnTo>
                    <a:pt x="3736848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80671" y="1429602"/>
            <a:ext cx="630146" cy="191171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20851" y="1764792"/>
            <a:ext cx="4272534" cy="166877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20851" y="3813047"/>
            <a:ext cx="2119122" cy="16535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4E61F8-0D2B-5AC2-F9EA-B24EB9171AC1}"/>
              </a:ext>
            </a:extLst>
          </p:cNvPr>
          <p:cNvSpPr txBox="1"/>
          <p:nvPr/>
        </p:nvSpPr>
        <p:spPr>
          <a:xfrm>
            <a:off x="685800" y="1859339"/>
            <a:ext cx="495582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Code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import </a:t>
            </a:r>
            <a:r>
              <a:rPr lang="en-US" dirty="0" err="1">
                <a:latin typeface="Courier New" panose="02070309020205020404" pitchFamily="49" charset="0"/>
              </a:rPr>
              <a:t>numpy</a:t>
            </a:r>
            <a:r>
              <a:rPr lang="en-US" dirty="0">
                <a:latin typeface="Courier New" panose="02070309020205020404" pitchFamily="49" charset="0"/>
              </a:rPr>
              <a:t> as np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# Create a 3 × 3 array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arr2d = </a:t>
            </a:r>
            <a:r>
              <a:rPr lang="en-US" dirty="0" err="1">
                <a:latin typeface="Courier New" panose="02070309020205020404" pitchFamily="49" charset="0"/>
              </a:rPr>
              <a:t>np.arange</a:t>
            </a:r>
            <a:r>
              <a:rPr lang="en-US" dirty="0">
                <a:latin typeface="Courier New" panose="02070309020205020404" pitchFamily="49" charset="0"/>
              </a:rPr>
              <a:t>(1, 10).reshape(3, 3)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print(arr2d)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# Slice the first two rows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print(arr2d[:2])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0D72CB-EF0D-321D-FFDB-9D99AA51D65F}"/>
              </a:ext>
            </a:extLst>
          </p:cNvPr>
          <p:cNvSpPr txBox="1"/>
          <p:nvPr/>
        </p:nvSpPr>
        <p:spPr>
          <a:xfrm>
            <a:off x="6019800" y="2133600"/>
            <a:ext cx="2667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[[1 2 3]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[4 5 6]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[7 8 9]]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[[1 2 3]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[4 5 6]]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6652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81266" y="6524444"/>
            <a:ext cx="163724" cy="8590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531" y="6510528"/>
            <a:ext cx="2044445" cy="1607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7892" y="6533388"/>
            <a:ext cx="1677161" cy="10439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7804" y="3218675"/>
            <a:ext cx="8262366" cy="66219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37489" y="422275"/>
            <a:ext cx="2976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1.4.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NumPy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Indexing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Slicing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12530" y="456056"/>
            <a:ext cx="668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Calibri"/>
                <a:cs typeface="Calibri"/>
              </a:rPr>
              <a:t>UNIT</a:t>
            </a:r>
            <a:r>
              <a:rPr sz="1600" spc="-4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600" b="1" spc="-114" dirty="0">
                <a:solidFill>
                  <a:srgbClr val="D9D9D9"/>
                </a:solidFill>
                <a:latin typeface="Arial"/>
                <a:cs typeface="Arial"/>
              </a:rPr>
              <a:t>01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56133" y="2057273"/>
            <a:ext cx="8787765" cy="945515"/>
            <a:chOff x="556133" y="2057273"/>
            <a:chExt cx="8787765" cy="945515"/>
          </a:xfrm>
        </p:grpSpPr>
        <p:sp>
          <p:nvSpPr>
            <p:cNvPr id="9" name="object 9"/>
            <p:cNvSpPr/>
            <p:nvPr/>
          </p:nvSpPr>
          <p:spPr>
            <a:xfrm>
              <a:off x="559308" y="2060448"/>
              <a:ext cx="8781415" cy="939165"/>
            </a:xfrm>
            <a:custGeom>
              <a:avLst/>
              <a:gdLst/>
              <a:ahLst/>
              <a:cxnLst/>
              <a:rect l="l" t="t" r="r" b="b"/>
              <a:pathLst>
                <a:path w="8781415" h="939164">
                  <a:moveTo>
                    <a:pt x="0" y="938784"/>
                  </a:moveTo>
                  <a:lnTo>
                    <a:pt x="8781288" y="938784"/>
                  </a:lnTo>
                  <a:lnTo>
                    <a:pt x="8781288" y="0"/>
                  </a:lnTo>
                  <a:lnTo>
                    <a:pt x="0" y="0"/>
                  </a:lnTo>
                  <a:lnTo>
                    <a:pt x="0" y="938784"/>
                  </a:lnTo>
                  <a:close/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9876" y="2107222"/>
              <a:ext cx="8646964" cy="804557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556133" y="4001896"/>
            <a:ext cx="8787765" cy="800735"/>
            <a:chOff x="556133" y="4001896"/>
            <a:chExt cx="8787765" cy="800735"/>
          </a:xfrm>
        </p:grpSpPr>
        <p:sp>
          <p:nvSpPr>
            <p:cNvPr id="12" name="object 12"/>
            <p:cNvSpPr/>
            <p:nvPr/>
          </p:nvSpPr>
          <p:spPr>
            <a:xfrm>
              <a:off x="559308" y="4005071"/>
              <a:ext cx="8781415" cy="794385"/>
            </a:xfrm>
            <a:custGeom>
              <a:avLst/>
              <a:gdLst/>
              <a:ahLst/>
              <a:cxnLst/>
              <a:rect l="l" t="t" r="r" b="b"/>
              <a:pathLst>
                <a:path w="8781415" h="794385">
                  <a:moveTo>
                    <a:pt x="0" y="794003"/>
                  </a:moveTo>
                  <a:lnTo>
                    <a:pt x="8781288" y="794003"/>
                  </a:lnTo>
                  <a:lnTo>
                    <a:pt x="8781288" y="0"/>
                  </a:lnTo>
                  <a:lnTo>
                    <a:pt x="0" y="0"/>
                  </a:lnTo>
                  <a:lnTo>
                    <a:pt x="0" y="794003"/>
                  </a:lnTo>
                  <a:close/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214372" y="4201667"/>
              <a:ext cx="3456940" cy="187960"/>
            </a:xfrm>
            <a:custGeom>
              <a:avLst/>
              <a:gdLst/>
              <a:ahLst/>
              <a:cxnLst/>
              <a:rect l="l" t="t" r="r" b="b"/>
              <a:pathLst>
                <a:path w="3456940" h="187960">
                  <a:moveTo>
                    <a:pt x="3456432" y="0"/>
                  </a:moveTo>
                  <a:lnTo>
                    <a:pt x="0" y="0"/>
                  </a:lnTo>
                  <a:lnTo>
                    <a:pt x="0" y="187451"/>
                  </a:lnTo>
                  <a:lnTo>
                    <a:pt x="3456432" y="187451"/>
                  </a:lnTo>
                  <a:lnTo>
                    <a:pt x="3456432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7197" y="4069092"/>
              <a:ext cx="8684768" cy="692518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80671" y="1429602"/>
            <a:ext cx="630146" cy="19117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20851" y="1766316"/>
            <a:ext cx="5843778" cy="16535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F2682E-E7C2-0145-0A05-8F65CE193347}"/>
              </a:ext>
            </a:extLst>
          </p:cNvPr>
          <p:cNvSpPr txBox="1"/>
          <p:nvPr/>
        </p:nvSpPr>
        <p:spPr>
          <a:xfrm>
            <a:off x="457200" y="1143000"/>
            <a:ext cx="869244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Code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import </a:t>
            </a:r>
            <a:r>
              <a:rPr lang="en-US" dirty="0" err="1">
                <a:latin typeface="Courier New" panose="02070309020205020404" pitchFamily="49" charset="0"/>
              </a:rPr>
              <a:t>numpy</a:t>
            </a:r>
            <a:r>
              <a:rPr lang="en-US" dirty="0">
                <a:latin typeface="Courier New" panose="02070309020205020404" pitchFamily="49" charset="0"/>
              </a:rPr>
              <a:t> as np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# Create a 3 × 3 array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arr2d = </a:t>
            </a:r>
            <a:r>
              <a:rPr lang="en-US" dirty="0" err="1">
                <a:latin typeface="Courier New" panose="02070309020205020404" pitchFamily="49" charset="0"/>
              </a:rPr>
              <a:t>np.arange</a:t>
            </a:r>
            <a:r>
              <a:rPr lang="en-US" dirty="0">
                <a:latin typeface="Courier New" panose="02070309020205020404" pitchFamily="49" charset="0"/>
              </a:rPr>
              <a:t>(1, 10).reshape(3, 3)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print(arr2d)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# Select the first two rows and last two columns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print(arr2d[:2, 1:])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# Select the first two columns of the second row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print(arr2d[1, :2])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3D3F05-CF0B-6EB0-8404-8444B69ED953}"/>
              </a:ext>
            </a:extLst>
          </p:cNvPr>
          <p:cNvSpPr txBox="1"/>
          <p:nvPr/>
        </p:nvSpPr>
        <p:spPr>
          <a:xfrm>
            <a:off x="7645399" y="2819400"/>
            <a:ext cx="300848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[[1 2 3]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[4 5 6]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[7 8 9]]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[[2 3]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[5 6]]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[4 5]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3234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8132" y="6525888"/>
            <a:ext cx="165333" cy="8446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531" y="6510528"/>
            <a:ext cx="2044445" cy="1607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7892" y="6533388"/>
            <a:ext cx="1677161" cy="10439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7804" y="3180588"/>
            <a:ext cx="7294626" cy="16687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37489" y="422275"/>
            <a:ext cx="2976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1.4.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NumPy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Indexing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Slicing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12530" y="456056"/>
            <a:ext cx="668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Calibri"/>
                <a:cs typeface="Calibri"/>
              </a:rPr>
              <a:t>UNIT</a:t>
            </a:r>
            <a:r>
              <a:rPr sz="1600" spc="-4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600" b="1" spc="-114" dirty="0">
                <a:solidFill>
                  <a:srgbClr val="D9D9D9"/>
                </a:solidFill>
                <a:latin typeface="Arial"/>
                <a:cs typeface="Arial"/>
              </a:rPr>
              <a:t>01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56133" y="2057273"/>
            <a:ext cx="8787765" cy="850900"/>
            <a:chOff x="556133" y="2057273"/>
            <a:chExt cx="8787765" cy="850900"/>
          </a:xfrm>
        </p:grpSpPr>
        <p:sp>
          <p:nvSpPr>
            <p:cNvPr id="9" name="object 9"/>
            <p:cNvSpPr/>
            <p:nvPr/>
          </p:nvSpPr>
          <p:spPr>
            <a:xfrm>
              <a:off x="559308" y="2060448"/>
              <a:ext cx="8781415" cy="844550"/>
            </a:xfrm>
            <a:custGeom>
              <a:avLst/>
              <a:gdLst/>
              <a:ahLst/>
              <a:cxnLst/>
              <a:rect l="l" t="t" r="r" b="b"/>
              <a:pathLst>
                <a:path w="8781415" h="844550">
                  <a:moveTo>
                    <a:pt x="0" y="844296"/>
                  </a:moveTo>
                  <a:lnTo>
                    <a:pt x="8781288" y="844296"/>
                  </a:lnTo>
                  <a:lnTo>
                    <a:pt x="8781288" y="0"/>
                  </a:lnTo>
                  <a:lnTo>
                    <a:pt x="0" y="0"/>
                  </a:lnTo>
                  <a:lnTo>
                    <a:pt x="0" y="844296"/>
                  </a:lnTo>
                  <a:close/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8392" y="2120461"/>
              <a:ext cx="8547047" cy="655688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556133" y="3445636"/>
            <a:ext cx="8787765" cy="1139190"/>
            <a:chOff x="556133" y="3445636"/>
            <a:chExt cx="8787765" cy="1139190"/>
          </a:xfrm>
        </p:grpSpPr>
        <p:sp>
          <p:nvSpPr>
            <p:cNvPr id="12" name="object 12"/>
            <p:cNvSpPr/>
            <p:nvPr/>
          </p:nvSpPr>
          <p:spPr>
            <a:xfrm>
              <a:off x="559308" y="3448811"/>
              <a:ext cx="8781415" cy="1132840"/>
            </a:xfrm>
            <a:custGeom>
              <a:avLst/>
              <a:gdLst/>
              <a:ahLst/>
              <a:cxnLst/>
              <a:rect l="l" t="t" r="r" b="b"/>
              <a:pathLst>
                <a:path w="8781415" h="1132839">
                  <a:moveTo>
                    <a:pt x="0" y="1132332"/>
                  </a:moveTo>
                  <a:lnTo>
                    <a:pt x="8781288" y="1132332"/>
                  </a:lnTo>
                  <a:lnTo>
                    <a:pt x="8781288" y="0"/>
                  </a:lnTo>
                  <a:lnTo>
                    <a:pt x="0" y="0"/>
                  </a:lnTo>
                  <a:lnTo>
                    <a:pt x="0" y="1132332"/>
                  </a:lnTo>
                  <a:close/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1960" y="3535679"/>
              <a:ext cx="8555671" cy="992124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80671" y="1429602"/>
            <a:ext cx="630146" cy="191171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20851" y="1764792"/>
            <a:ext cx="5200650" cy="166877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B5A197-7FC0-D4DC-A85E-87FB8AC33E07}"/>
              </a:ext>
            </a:extLst>
          </p:cNvPr>
          <p:cNvSpPr txBox="1"/>
          <p:nvPr/>
        </p:nvSpPr>
        <p:spPr>
          <a:xfrm>
            <a:off x="609600" y="1676400"/>
            <a:ext cx="495582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endParaRPr lang="en-US" dirty="0"/>
          </a:p>
          <a:p>
            <a:r>
              <a:rPr lang="en-US" dirty="0"/>
              <a:t># Create a 3 × 3 array</a:t>
            </a:r>
          </a:p>
          <a:p>
            <a:r>
              <a:rPr lang="en-US" dirty="0"/>
              <a:t>arr2d = </a:t>
            </a:r>
            <a:r>
              <a:rPr lang="en-US" dirty="0" err="1"/>
              <a:t>np.arange</a:t>
            </a:r>
            <a:r>
              <a:rPr lang="en-US" dirty="0"/>
              <a:t>(1, 10).reshape(3, 3)</a:t>
            </a:r>
          </a:p>
          <a:p>
            <a:endParaRPr lang="en-US" dirty="0"/>
          </a:p>
          <a:p>
            <a:r>
              <a:rPr lang="en-US" dirty="0"/>
              <a:t>print(arr2d)</a:t>
            </a:r>
          </a:p>
          <a:p>
            <a:endParaRPr lang="en-US" dirty="0"/>
          </a:p>
          <a:p>
            <a:r>
              <a:rPr lang="en-US" dirty="0"/>
              <a:t># Select the third column from the first two rows</a:t>
            </a:r>
          </a:p>
          <a:p>
            <a:r>
              <a:rPr lang="en-US" dirty="0"/>
              <a:t>print(arr2d[:2, 2])</a:t>
            </a:r>
          </a:p>
          <a:p>
            <a:endParaRPr lang="en-US" dirty="0"/>
          </a:p>
          <a:p>
            <a:r>
              <a:rPr lang="en-US" dirty="0"/>
              <a:t># Select the first column from all rows</a:t>
            </a:r>
          </a:p>
          <a:p>
            <a:r>
              <a:rPr lang="en-US" dirty="0"/>
              <a:t>print(arr2d[:, :1])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14CEAF-40DF-147C-16EB-0557F653B935}"/>
              </a:ext>
            </a:extLst>
          </p:cNvPr>
          <p:cNvSpPr txBox="1"/>
          <p:nvPr/>
        </p:nvSpPr>
        <p:spPr>
          <a:xfrm>
            <a:off x="5715000" y="1997839"/>
            <a:ext cx="495582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[[1 2 3]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[4 5 6]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[7 8 9]]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[3 6]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[[1]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[4]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[7]]</a:t>
            </a:r>
          </a:p>
        </p:txBody>
      </p:sp>
    </p:spTree>
    <p:extLst>
      <p:ext uri="{BB962C8B-B14F-4D97-AF65-F5344CB8AC3E}">
        <p14:creationId xmlns:p14="http://schemas.microsoft.com/office/powerpoint/2010/main" val="34397853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6608" y="6525888"/>
            <a:ext cx="169905" cy="8446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531" y="6510528"/>
            <a:ext cx="2044445" cy="1607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7892" y="6533388"/>
            <a:ext cx="1677161" cy="10439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711070" y="1838451"/>
            <a:ext cx="5878830" cy="4382135"/>
            <a:chOff x="1711070" y="1838451"/>
            <a:chExt cx="5878830" cy="4382135"/>
          </a:xfrm>
        </p:grpSpPr>
        <p:sp>
          <p:nvSpPr>
            <p:cNvPr id="6" name="object 6"/>
            <p:cNvSpPr/>
            <p:nvPr/>
          </p:nvSpPr>
          <p:spPr>
            <a:xfrm>
              <a:off x="1711071" y="1844801"/>
              <a:ext cx="5878830" cy="304800"/>
            </a:xfrm>
            <a:custGeom>
              <a:avLst/>
              <a:gdLst/>
              <a:ahLst/>
              <a:cxnLst/>
              <a:rect l="l" t="t" r="r" b="b"/>
              <a:pathLst>
                <a:path w="5878830" h="304800">
                  <a:moveTo>
                    <a:pt x="5878830" y="0"/>
                  </a:moveTo>
                  <a:lnTo>
                    <a:pt x="3919220" y="0"/>
                  </a:lnTo>
                  <a:lnTo>
                    <a:pt x="1959610" y="0"/>
                  </a:lnTo>
                  <a:lnTo>
                    <a:pt x="0" y="0"/>
                  </a:lnTo>
                  <a:lnTo>
                    <a:pt x="0" y="304800"/>
                  </a:lnTo>
                  <a:lnTo>
                    <a:pt x="1959610" y="304800"/>
                  </a:lnTo>
                  <a:lnTo>
                    <a:pt x="3919220" y="304800"/>
                  </a:lnTo>
                  <a:lnTo>
                    <a:pt x="5878830" y="304800"/>
                  </a:lnTo>
                  <a:lnTo>
                    <a:pt x="587883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1070" y="1838451"/>
              <a:ext cx="5878830" cy="4382135"/>
            </a:xfrm>
            <a:custGeom>
              <a:avLst/>
              <a:gdLst/>
              <a:ahLst/>
              <a:cxnLst/>
              <a:rect l="l" t="t" r="r" b="b"/>
              <a:pathLst>
                <a:path w="5878830" h="4382135">
                  <a:moveTo>
                    <a:pt x="1959609" y="0"/>
                  </a:moveTo>
                  <a:lnTo>
                    <a:pt x="1959609" y="4382096"/>
                  </a:lnTo>
                </a:path>
                <a:path w="5878830" h="4382135">
                  <a:moveTo>
                    <a:pt x="3919220" y="0"/>
                  </a:moveTo>
                  <a:lnTo>
                    <a:pt x="3919220" y="4382096"/>
                  </a:lnTo>
                </a:path>
                <a:path w="5878830" h="4382135">
                  <a:moveTo>
                    <a:pt x="0" y="311150"/>
                  </a:moveTo>
                  <a:lnTo>
                    <a:pt x="5878830" y="311150"/>
                  </a:lnTo>
                </a:path>
                <a:path w="5878830" h="4382135">
                  <a:moveTo>
                    <a:pt x="0" y="1328165"/>
                  </a:moveTo>
                  <a:lnTo>
                    <a:pt x="5878830" y="1328165"/>
                  </a:lnTo>
                </a:path>
                <a:path w="5878830" h="4382135">
                  <a:moveTo>
                    <a:pt x="0" y="2345055"/>
                  </a:moveTo>
                  <a:lnTo>
                    <a:pt x="5878830" y="2345055"/>
                  </a:lnTo>
                </a:path>
                <a:path w="5878830" h="4382135">
                  <a:moveTo>
                    <a:pt x="0" y="3361944"/>
                  </a:moveTo>
                  <a:lnTo>
                    <a:pt x="5878830" y="3361944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11070" y="1844801"/>
              <a:ext cx="5878830" cy="0"/>
            </a:xfrm>
            <a:custGeom>
              <a:avLst/>
              <a:gdLst/>
              <a:ahLst/>
              <a:cxnLst/>
              <a:rect l="l" t="t" r="r" b="b"/>
              <a:pathLst>
                <a:path w="5878830">
                  <a:moveTo>
                    <a:pt x="0" y="0"/>
                  </a:moveTo>
                  <a:lnTo>
                    <a:pt x="5878830" y="0"/>
                  </a:lnTo>
                </a:path>
              </a:pathLst>
            </a:custGeom>
            <a:ln w="12700">
              <a:solidFill>
                <a:srgbClr val="183D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11070" y="6217373"/>
              <a:ext cx="5878830" cy="0"/>
            </a:xfrm>
            <a:custGeom>
              <a:avLst/>
              <a:gdLst/>
              <a:ahLst/>
              <a:cxnLst/>
              <a:rect l="l" t="t" r="r" b="b"/>
              <a:pathLst>
                <a:path w="5878830">
                  <a:moveTo>
                    <a:pt x="0" y="0"/>
                  </a:moveTo>
                  <a:lnTo>
                    <a:pt x="5878830" y="0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58588" y="1922525"/>
              <a:ext cx="383921" cy="13639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09969" y="1920112"/>
              <a:ext cx="1007618" cy="13881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33366" y="2589021"/>
              <a:ext cx="420116" cy="15252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07838" y="2589021"/>
              <a:ext cx="151637" cy="13792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62267" y="2586735"/>
              <a:ext cx="294259" cy="15481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52238" y="3407790"/>
              <a:ext cx="388365" cy="13792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91278" y="3605910"/>
              <a:ext cx="374396" cy="15265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368419" y="3804030"/>
              <a:ext cx="554481" cy="15265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828031" y="3605910"/>
              <a:ext cx="72008" cy="13792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503416" y="3405631"/>
              <a:ext cx="213486" cy="15481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503416" y="3603751"/>
              <a:ext cx="213486" cy="15481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466839" y="3801872"/>
              <a:ext cx="285114" cy="15481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368419" y="4622926"/>
              <a:ext cx="554481" cy="15252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460617" y="4620641"/>
              <a:ext cx="298831" cy="15481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356226" y="5540755"/>
              <a:ext cx="580389" cy="15256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290694" y="5738913"/>
              <a:ext cx="711453" cy="15252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504812" y="5538597"/>
              <a:ext cx="208914" cy="15472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469761" y="5736653"/>
              <a:ext cx="280542" cy="154787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437489" y="422275"/>
            <a:ext cx="2976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1.4.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NumPy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Indexing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Slicing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812530" y="456056"/>
            <a:ext cx="668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Calibri"/>
                <a:cs typeface="Calibri"/>
              </a:rPr>
              <a:t>UNIT</a:t>
            </a:r>
            <a:r>
              <a:rPr sz="1600" spc="-4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600" b="1" spc="-114" dirty="0">
                <a:solidFill>
                  <a:srgbClr val="D9D9D9"/>
                </a:solidFill>
                <a:latin typeface="Arial"/>
                <a:cs typeface="Arial"/>
              </a:rPr>
              <a:t>01</a:t>
            </a:r>
            <a:endParaRPr sz="1600">
              <a:latin typeface="Arial"/>
              <a:cs typeface="Arial"/>
            </a:endParaRPr>
          </a:p>
        </p:txBody>
      </p:sp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2271014" y="2240152"/>
          <a:ext cx="807719" cy="790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2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3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2271014" y="3273425"/>
          <a:ext cx="807719" cy="790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2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3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2271014" y="4271390"/>
          <a:ext cx="807719" cy="790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2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3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3" name="object 33"/>
          <p:cNvGraphicFramePr>
            <a:graphicFrameLocks noGrp="1"/>
          </p:cNvGraphicFramePr>
          <p:nvPr/>
        </p:nvGraphicFramePr>
        <p:xfrm>
          <a:off x="2271014" y="5298059"/>
          <a:ext cx="807719" cy="790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2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3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4" name="object 34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580671" y="1429602"/>
            <a:ext cx="630146" cy="191171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9656" y="6525888"/>
            <a:ext cx="165333" cy="8446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531" y="6510528"/>
            <a:ext cx="2044445" cy="1607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7892" y="6533388"/>
            <a:ext cx="1677161" cy="10439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0851" y="3256788"/>
            <a:ext cx="5772150" cy="16535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37489" y="422275"/>
            <a:ext cx="2976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1.4.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NumPy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Indexing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Slicing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12530" y="456056"/>
            <a:ext cx="668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Calibri"/>
                <a:cs typeface="Calibri"/>
              </a:rPr>
              <a:t>UNIT</a:t>
            </a:r>
            <a:r>
              <a:rPr sz="1600" spc="-4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600" b="1" spc="-114" dirty="0">
                <a:solidFill>
                  <a:srgbClr val="D9D9D9"/>
                </a:solidFill>
                <a:latin typeface="Arial"/>
                <a:cs typeface="Arial"/>
              </a:rPr>
              <a:t>01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56133" y="1697608"/>
            <a:ext cx="8787765" cy="1303655"/>
            <a:chOff x="556133" y="1697608"/>
            <a:chExt cx="8787765" cy="1303655"/>
          </a:xfrm>
        </p:grpSpPr>
        <p:sp>
          <p:nvSpPr>
            <p:cNvPr id="9" name="object 9"/>
            <p:cNvSpPr/>
            <p:nvPr/>
          </p:nvSpPr>
          <p:spPr>
            <a:xfrm>
              <a:off x="559308" y="1700783"/>
              <a:ext cx="8781415" cy="1297305"/>
            </a:xfrm>
            <a:custGeom>
              <a:avLst/>
              <a:gdLst/>
              <a:ahLst/>
              <a:cxnLst/>
              <a:rect l="l" t="t" r="r" b="b"/>
              <a:pathLst>
                <a:path w="8781415" h="1297305">
                  <a:moveTo>
                    <a:pt x="0" y="1296924"/>
                  </a:moveTo>
                  <a:lnTo>
                    <a:pt x="8781288" y="1296924"/>
                  </a:lnTo>
                  <a:lnTo>
                    <a:pt x="8781288" y="0"/>
                  </a:lnTo>
                  <a:lnTo>
                    <a:pt x="0" y="0"/>
                  </a:lnTo>
                  <a:lnTo>
                    <a:pt x="0" y="1296924"/>
                  </a:lnTo>
                  <a:close/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2328" y="1788995"/>
              <a:ext cx="8492238" cy="1078612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556133" y="3506596"/>
            <a:ext cx="8787765" cy="823594"/>
            <a:chOff x="556133" y="3506596"/>
            <a:chExt cx="8787765" cy="823594"/>
          </a:xfrm>
        </p:grpSpPr>
        <p:sp>
          <p:nvSpPr>
            <p:cNvPr id="12" name="object 12"/>
            <p:cNvSpPr/>
            <p:nvPr/>
          </p:nvSpPr>
          <p:spPr>
            <a:xfrm>
              <a:off x="559308" y="3509771"/>
              <a:ext cx="8781415" cy="817244"/>
            </a:xfrm>
            <a:custGeom>
              <a:avLst/>
              <a:gdLst/>
              <a:ahLst/>
              <a:cxnLst/>
              <a:rect l="l" t="t" r="r" b="b"/>
              <a:pathLst>
                <a:path w="8781415" h="817245">
                  <a:moveTo>
                    <a:pt x="0" y="816863"/>
                  </a:moveTo>
                  <a:lnTo>
                    <a:pt x="8781288" y="816863"/>
                  </a:lnTo>
                  <a:lnTo>
                    <a:pt x="8781288" y="0"/>
                  </a:lnTo>
                  <a:lnTo>
                    <a:pt x="0" y="0"/>
                  </a:lnTo>
                  <a:lnTo>
                    <a:pt x="0" y="816863"/>
                  </a:lnTo>
                  <a:close/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9704" y="3537203"/>
              <a:ext cx="8661908" cy="699516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556133" y="4832477"/>
            <a:ext cx="8787765" cy="821690"/>
            <a:chOff x="556133" y="4832477"/>
            <a:chExt cx="8787765" cy="821690"/>
          </a:xfrm>
        </p:grpSpPr>
        <p:sp>
          <p:nvSpPr>
            <p:cNvPr id="15" name="object 15"/>
            <p:cNvSpPr/>
            <p:nvPr/>
          </p:nvSpPr>
          <p:spPr>
            <a:xfrm>
              <a:off x="559308" y="4835652"/>
              <a:ext cx="8781415" cy="815340"/>
            </a:xfrm>
            <a:custGeom>
              <a:avLst/>
              <a:gdLst/>
              <a:ahLst/>
              <a:cxnLst/>
              <a:rect l="l" t="t" r="r" b="b"/>
              <a:pathLst>
                <a:path w="8781415" h="815339">
                  <a:moveTo>
                    <a:pt x="0" y="815340"/>
                  </a:moveTo>
                  <a:lnTo>
                    <a:pt x="8781288" y="815340"/>
                  </a:lnTo>
                  <a:lnTo>
                    <a:pt x="8781288" y="0"/>
                  </a:lnTo>
                  <a:lnTo>
                    <a:pt x="0" y="0"/>
                  </a:lnTo>
                  <a:lnTo>
                    <a:pt x="0" y="815340"/>
                  </a:lnTo>
                  <a:close/>
                </a:path>
              </a:pathLst>
            </a:custGeom>
            <a:ln w="6349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2023" y="4926835"/>
              <a:ext cx="8542723" cy="631377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76072" y="1424939"/>
            <a:ext cx="2282190" cy="19583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20851" y="4584191"/>
            <a:ext cx="6104382" cy="16535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0C85E1-8C77-FFBF-6287-B43CE7F4820A}"/>
              </a:ext>
            </a:extLst>
          </p:cNvPr>
          <p:cNvSpPr txBox="1"/>
          <p:nvPr/>
        </p:nvSpPr>
        <p:spPr>
          <a:xfrm>
            <a:off x="228600" y="1295400"/>
            <a:ext cx="495582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endParaRPr lang="en-US" dirty="0"/>
          </a:p>
          <a:p>
            <a:r>
              <a:rPr lang="en-US" dirty="0"/>
              <a:t># Create an array of names</a:t>
            </a:r>
          </a:p>
          <a:p>
            <a:r>
              <a:rPr lang="en-US" dirty="0"/>
              <a:t>names = </a:t>
            </a:r>
            <a:r>
              <a:rPr lang="en-US" dirty="0" err="1"/>
              <a:t>np.array</a:t>
            </a:r>
            <a:r>
              <a:rPr lang="en-US" dirty="0"/>
              <a:t>(['Bob', 'Joe', 'Tom', 'Bob', 'Tom', 'Joe', 'Joe'])</a:t>
            </a:r>
          </a:p>
          <a:p>
            <a:endParaRPr lang="en-US" dirty="0"/>
          </a:p>
          <a:p>
            <a:r>
              <a:rPr lang="en-US" dirty="0"/>
              <a:t># Display the array</a:t>
            </a:r>
          </a:p>
          <a:p>
            <a:r>
              <a:rPr lang="en-US" dirty="0"/>
              <a:t>print(names)</a:t>
            </a:r>
          </a:p>
          <a:p>
            <a:endParaRPr lang="en-US" dirty="0"/>
          </a:p>
          <a:p>
            <a:r>
              <a:rPr lang="en-US" dirty="0"/>
              <a:t># Check which elements are equal to 'Bob'</a:t>
            </a:r>
          </a:p>
          <a:p>
            <a:r>
              <a:rPr lang="en-US" dirty="0"/>
              <a:t>print(names == 'Bob')</a:t>
            </a:r>
          </a:p>
          <a:p>
            <a:endParaRPr lang="en-US" dirty="0"/>
          </a:p>
          <a:p>
            <a:r>
              <a:rPr lang="en-US" dirty="0"/>
              <a:t># Select only the elements that are 'Bob'</a:t>
            </a:r>
          </a:p>
          <a:p>
            <a:r>
              <a:rPr lang="en-US" dirty="0"/>
              <a:t>print(names[names == 'Bob'])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05BAF8-BBAD-DA45-7744-7D30211384FB}"/>
              </a:ext>
            </a:extLst>
          </p:cNvPr>
          <p:cNvSpPr txBox="1"/>
          <p:nvPr/>
        </p:nvSpPr>
        <p:spPr>
          <a:xfrm>
            <a:off x="5204178" y="2895600"/>
            <a:ext cx="495582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Output:</a:t>
            </a:r>
          </a:p>
          <a:p>
            <a:endParaRPr lang="en-US" dirty="0"/>
          </a:p>
          <a:p>
            <a:r>
              <a:rPr lang="en-US" dirty="0"/>
              <a:t>['Bob' 'Joe' 'Tom' 'Bob' 'Tom' 'Joe' 'Joe']</a:t>
            </a:r>
          </a:p>
          <a:p>
            <a:endParaRPr lang="en-US" dirty="0"/>
          </a:p>
          <a:p>
            <a:r>
              <a:rPr lang="en-US" dirty="0"/>
              <a:t>[ True False </a:t>
            </a:r>
            <a:r>
              <a:rPr lang="en-US" dirty="0" err="1"/>
              <a:t>False</a:t>
            </a:r>
            <a:r>
              <a:rPr lang="en-US" dirty="0"/>
              <a:t>  True False </a:t>
            </a:r>
            <a:r>
              <a:rPr lang="en-US" dirty="0" err="1"/>
              <a:t>False</a:t>
            </a:r>
            <a:r>
              <a:rPr lang="en-US" dirty="0"/>
              <a:t> False]</a:t>
            </a:r>
          </a:p>
          <a:p>
            <a:endParaRPr lang="en-US" dirty="0"/>
          </a:p>
          <a:p>
            <a:r>
              <a:rPr lang="en-US" dirty="0"/>
              <a:t>['Bob' 'Bob']</a:t>
            </a:r>
          </a:p>
        </p:txBody>
      </p:sp>
    </p:spTree>
    <p:extLst>
      <p:ext uri="{BB962C8B-B14F-4D97-AF65-F5344CB8AC3E}">
        <p14:creationId xmlns:p14="http://schemas.microsoft.com/office/powerpoint/2010/main" val="32195046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8215" y="6524444"/>
            <a:ext cx="168299" cy="8590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531" y="6510528"/>
            <a:ext cx="2044445" cy="1607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7892" y="6533388"/>
            <a:ext cx="1677161" cy="10439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8723" y="1409687"/>
            <a:ext cx="2280666" cy="33910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37489" y="422275"/>
            <a:ext cx="2976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1.4.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NumPy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Indexing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Slicing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12530" y="456056"/>
            <a:ext cx="668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Calibri"/>
                <a:cs typeface="Calibri"/>
              </a:rPr>
              <a:t>UNIT</a:t>
            </a:r>
            <a:r>
              <a:rPr sz="1600" spc="-4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600" b="1" spc="-114" dirty="0">
                <a:solidFill>
                  <a:srgbClr val="D9D9D9"/>
                </a:solidFill>
                <a:latin typeface="Arial"/>
                <a:cs typeface="Arial"/>
              </a:rPr>
              <a:t>01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56133" y="2174620"/>
            <a:ext cx="8787765" cy="3705225"/>
            <a:chOff x="556133" y="2174620"/>
            <a:chExt cx="8787765" cy="3705225"/>
          </a:xfrm>
        </p:grpSpPr>
        <p:sp>
          <p:nvSpPr>
            <p:cNvPr id="9" name="object 9"/>
            <p:cNvSpPr/>
            <p:nvPr/>
          </p:nvSpPr>
          <p:spPr>
            <a:xfrm>
              <a:off x="559308" y="2177795"/>
              <a:ext cx="8781415" cy="3698875"/>
            </a:xfrm>
            <a:custGeom>
              <a:avLst/>
              <a:gdLst/>
              <a:ahLst/>
              <a:cxnLst/>
              <a:rect l="l" t="t" r="r" b="b"/>
              <a:pathLst>
                <a:path w="8781415" h="3698875">
                  <a:moveTo>
                    <a:pt x="0" y="3698748"/>
                  </a:moveTo>
                  <a:lnTo>
                    <a:pt x="8781288" y="3698748"/>
                  </a:lnTo>
                  <a:lnTo>
                    <a:pt x="8781288" y="0"/>
                  </a:lnTo>
                  <a:lnTo>
                    <a:pt x="0" y="0"/>
                  </a:lnTo>
                  <a:lnTo>
                    <a:pt x="0" y="3698748"/>
                  </a:lnTo>
                  <a:close/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5908" y="2324836"/>
              <a:ext cx="8477959" cy="3400311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6072" y="1891283"/>
            <a:ext cx="8477250" cy="19583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40C9BF-ECEC-6829-13E6-1C733403A2EE}"/>
              </a:ext>
            </a:extLst>
          </p:cNvPr>
          <p:cNvSpPr txBox="1"/>
          <p:nvPr/>
        </p:nvSpPr>
        <p:spPr>
          <a:xfrm>
            <a:off x="609600" y="1828800"/>
            <a:ext cx="54864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endParaRPr lang="en-US" dirty="0"/>
          </a:p>
          <a:p>
            <a:r>
              <a:rPr lang="en-US" dirty="0"/>
              <a:t># Create an empty array with 8 rows and 4 columns</a:t>
            </a:r>
          </a:p>
          <a:p>
            <a:r>
              <a:rPr lang="en-US" dirty="0" err="1"/>
              <a:t>arr</a:t>
            </a:r>
            <a:r>
              <a:rPr lang="en-US" dirty="0"/>
              <a:t> = </a:t>
            </a:r>
            <a:r>
              <a:rPr lang="en-US" dirty="0" err="1"/>
              <a:t>np.empty</a:t>
            </a:r>
            <a:r>
              <a:rPr lang="en-US" dirty="0"/>
              <a:t>((8, 4))</a:t>
            </a:r>
          </a:p>
          <a:p>
            <a:endParaRPr lang="en-US" dirty="0"/>
          </a:p>
          <a:p>
            <a:r>
              <a:rPr lang="en-US" dirty="0"/>
              <a:t># Fill each row with its row index</a:t>
            </a:r>
          </a:p>
          <a:p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range(8):</a:t>
            </a:r>
          </a:p>
          <a:p>
            <a:r>
              <a:rPr lang="en-US" dirty="0"/>
              <a:t>   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= </a:t>
            </a:r>
            <a:r>
              <a:rPr lang="en-US" dirty="0" err="1"/>
              <a:t>i</a:t>
            </a:r>
            <a:endParaRPr lang="en-US" dirty="0"/>
          </a:p>
          <a:p>
            <a:endParaRPr lang="en-US" dirty="0"/>
          </a:p>
          <a:p>
            <a:r>
              <a:rPr lang="en-US" dirty="0"/>
              <a:t># Display the array</a:t>
            </a:r>
          </a:p>
          <a:p>
            <a:r>
              <a:rPr lang="en-US" dirty="0"/>
              <a:t>print(</a:t>
            </a:r>
            <a:r>
              <a:rPr lang="en-US" dirty="0" err="1"/>
              <a:t>arr</a:t>
            </a:r>
            <a:r>
              <a:rPr lang="en-US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4D9B2F-AD59-BD3A-41CA-0D935A26E0E2}"/>
              </a:ext>
            </a:extLst>
          </p:cNvPr>
          <p:cNvSpPr txBox="1"/>
          <p:nvPr/>
        </p:nvSpPr>
        <p:spPr>
          <a:xfrm>
            <a:off x="6818489" y="2382798"/>
            <a:ext cx="495582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[[0. 0. 0. 0.]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[1. 1. 1. 1.]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[2. 2. 2. 2.]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[3. 3. 3. 3.]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[4. 4. 4. 4.]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[5. 5. 5. 5.]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[6. 6. 6. 6.]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[7. 7. 7. 7.]]</a:t>
            </a:r>
          </a:p>
        </p:txBody>
      </p:sp>
    </p:spTree>
    <p:extLst>
      <p:ext uri="{BB962C8B-B14F-4D97-AF65-F5344CB8AC3E}">
        <p14:creationId xmlns:p14="http://schemas.microsoft.com/office/powerpoint/2010/main" val="4623978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85795" y="6525888"/>
            <a:ext cx="162242" cy="8446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531" y="6510528"/>
            <a:ext cx="2044445" cy="1607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7892" y="6533388"/>
            <a:ext cx="1677161" cy="10439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0851" y="3582923"/>
            <a:ext cx="5028438" cy="16535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37489" y="422275"/>
            <a:ext cx="2976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1.4.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NumPy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Indexing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Slicing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12530" y="456056"/>
            <a:ext cx="668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Calibri"/>
                <a:cs typeface="Calibri"/>
              </a:rPr>
              <a:t>UNIT</a:t>
            </a:r>
            <a:r>
              <a:rPr sz="1600" spc="-4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600" b="1" spc="-114" dirty="0">
                <a:solidFill>
                  <a:srgbClr val="D9D9D9"/>
                </a:solidFill>
                <a:latin typeface="Arial"/>
                <a:cs typeface="Arial"/>
              </a:rPr>
              <a:t>01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56133" y="2043557"/>
            <a:ext cx="8787765" cy="1304925"/>
            <a:chOff x="556133" y="2043557"/>
            <a:chExt cx="8787765" cy="1304925"/>
          </a:xfrm>
        </p:grpSpPr>
        <p:sp>
          <p:nvSpPr>
            <p:cNvPr id="9" name="object 9"/>
            <p:cNvSpPr/>
            <p:nvPr/>
          </p:nvSpPr>
          <p:spPr>
            <a:xfrm>
              <a:off x="559308" y="2046732"/>
              <a:ext cx="8781415" cy="1298575"/>
            </a:xfrm>
            <a:custGeom>
              <a:avLst/>
              <a:gdLst/>
              <a:ahLst/>
              <a:cxnLst/>
              <a:rect l="l" t="t" r="r" b="b"/>
              <a:pathLst>
                <a:path w="8781415" h="1298575">
                  <a:moveTo>
                    <a:pt x="0" y="1298448"/>
                  </a:moveTo>
                  <a:lnTo>
                    <a:pt x="8781288" y="1298448"/>
                  </a:lnTo>
                  <a:lnTo>
                    <a:pt x="8781288" y="0"/>
                  </a:lnTo>
                  <a:lnTo>
                    <a:pt x="0" y="0"/>
                  </a:lnTo>
                  <a:lnTo>
                    <a:pt x="0" y="1298448"/>
                  </a:lnTo>
                  <a:close/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1716" y="2121222"/>
              <a:ext cx="8504550" cy="1169824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556133" y="3849496"/>
            <a:ext cx="8787765" cy="951230"/>
            <a:chOff x="556133" y="3849496"/>
            <a:chExt cx="8787765" cy="951230"/>
          </a:xfrm>
        </p:grpSpPr>
        <p:sp>
          <p:nvSpPr>
            <p:cNvPr id="12" name="object 12"/>
            <p:cNvSpPr/>
            <p:nvPr/>
          </p:nvSpPr>
          <p:spPr>
            <a:xfrm>
              <a:off x="559308" y="3852671"/>
              <a:ext cx="8781415" cy="944880"/>
            </a:xfrm>
            <a:custGeom>
              <a:avLst/>
              <a:gdLst/>
              <a:ahLst/>
              <a:cxnLst/>
              <a:rect l="l" t="t" r="r" b="b"/>
              <a:pathLst>
                <a:path w="8781415" h="944879">
                  <a:moveTo>
                    <a:pt x="0" y="944879"/>
                  </a:moveTo>
                  <a:lnTo>
                    <a:pt x="8781288" y="944879"/>
                  </a:lnTo>
                  <a:lnTo>
                    <a:pt x="8781288" y="0"/>
                  </a:lnTo>
                  <a:lnTo>
                    <a:pt x="0" y="0"/>
                  </a:lnTo>
                  <a:lnTo>
                    <a:pt x="0" y="944879"/>
                  </a:lnTo>
                  <a:close/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8020" y="3926311"/>
              <a:ext cx="8571992" cy="797601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6072" y="1424939"/>
            <a:ext cx="1280922" cy="19583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20851" y="1764792"/>
            <a:ext cx="7002018" cy="166877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E0F7F3-F3DA-ED97-2440-58DE8F04A382}"/>
              </a:ext>
            </a:extLst>
          </p:cNvPr>
          <p:cNvSpPr txBox="1"/>
          <p:nvPr/>
        </p:nvSpPr>
        <p:spPr>
          <a:xfrm>
            <a:off x="914400" y="1066800"/>
            <a:ext cx="495582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endParaRPr lang="en-US" dirty="0"/>
          </a:p>
          <a:p>
            <a:r>
              <a:rPr lang="en-US" dirty="0"/>
              <a:t># Create an empty array with 8 rows and 4 columns</a:t>
            </a:r>
          </a:p>
          <a:p>
            <a:r>
              <a:rPr lang="en-US" dirty="0" err="1"/>
              <a:t>arr</a:t>
            </a:r>
            <a:r>
              <a:rPr lang="en-US" dirty="0"/>
              <a:t> = </a:t>
            </a:r>
            <a:r>
              <a:rPr lang="en-US" dirty="0" err="1"/>
              <a:t>np.empty</a:t>
            </a:r>
            <a:r>
              <a:rPr lang="en-US" dirty="0"/>
              <a:t>((8, 4))</a:t>
            </a:r>
          </a:p>
          <a:p>
            <a:endParaRPr lang="en-US" dirty="0"/>
          </a:p>
          <a:p>
            <a:r>
              <a:rPr lang="en-US" dirty="0"/>
              <a:t># Fill each row with its row index</a:t>
            </a:r>
          </a:p>
          <a:p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range(8):</a:t>
            </a:r>
          </a:p>
          <a:p>
            <a:r>
              <a:rPr lang="en-US" dirty="0"/>
              <a:t>   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= </a:t>
            </a:r>
            <a:r>
              <a:rPr lang="en-US" dirty="0" err="1"/>
              <a:t>i</a:t>
            </a:r>
            <a:endParaRPr lang="en-US" dirty="0"/>
          </a:p>
          <a:p>
            <a:endParaRPr lang="en-US" dirty="0"/>
          </a:p>
          <a:p>
            <a:r>
              <a:rPr lang="en-US" dirty="0"/>
              <a:t>print(</a:t>
            </a:r>
            <a:r>
              <a:rPr lang="en-US" dirty="0" err="1"/>
              <a:t>arr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# Fancy indexing - Select rows in a specific order</a:t>
            </a:r>
          </a:p>
          <a:p>
            <a:r>
              <a:rPr lang="en-US" dirty="0"/>
              <a:t>print(</a:t>
            </a:r>
            <a:r>
              <a:rPr lang="en-US" dirty="0" err="1"/>
              <a:t>arr</a:t>
            </a:r>
            <a:r>
              <a:rPr lang="en-US" dirty="0"/>
              <a:t>[[4, 3, 0, 6]])</a:t>
            </a:r>
          </a:p>
          <a:p>
            <a:endParaRPr lang="en-US" dirty="0"/>
          </a:p>
          <a:p>
            <a:r>
              <a:rPr lang="en-US" dirty="0"/>
              <a:t># Fancy indexing using negative indices</a:t>
            </a:r>
          </a:p>
          <a:p>
            <a:r>
              <a:rPr lang="en-US" dirty="0"/>
              <a:t>print(</a:t>
            </a:r>
            <a:r>
              <a:rPr lang="en-US" dirty="0" err="1"/>
              <a:t>arr</a:t>
            </a:r>
            <a:r>
              <a:rPr lang="en-US" dirty="0"/>
              <a:t>[[-3, -5]])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1D08E7-6FDC-FC6D-E2AA-1301E9C7E072}"/>
              </a:ext>
            </a:extLst>
          </p:cNvPr>
          <p:cNvSpPr txBox="1"/>
          <p:nvPr/>
        </p:nvSpPr>
        <p:spPr>
          <a:xfrm>
            <a:off x="6324600" y="1205299"/>
            <a:ext cx="300848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Output:</a:t>
            </a:r>
          </a:p>
          <a:p>
            <a:r>
              <a:rPr lang="en-US" dirty="0"/>
              <a:t>[[0. 0. 0. 0.]</a:t>
            </a:r>
          </a:p>
          <a:p>
            <a:r>
              <a:rPr lang="en-US" dirty="0"/>
              <a:t> [1. 1. 1. 1.]</a:t>
            </a:r>
          </a:p>
          <a:p>
            <a:r>
              <a:rPr lang="en-US" dirty="0"/>
              <a:t> [2. 2. 2. 2.]</a:t>
            </a:r>
          </a:p>
          <a:p>
            <a:r>
              <a:rPr lang="en-US" dirty="0"/>
              <a:t> [3. 3. 3. 3.]</a:t>
            </a:r>
          </a:p>
          <a:p>
            <a:r>
              <a:rPr lang="en-US" dirty="0"/>
              <a:t> [4. 4. 4. 4.]</a:t>
            </a:r>
          </a:p>
          <a:p>
            <a:r>
              <a:rPr lang="en-US" dirty="0"/>
              <a:t> [5. 5. 5. 5.]</a:t>
            </a:r>
          </a:p>
          <a:p>
            <a:r>
              <a:rPr lang="en-US" dirty="0"/>
              <a:t> [6. 6. 6. 6.]</a:t>
            </a:r>
          </a:p>
          <a:p>
            <a:r>
              <a:rPr lang="en-US" dirty="0"/>
              <a:t> [7. 7. 7. 7.]]</a:t>
            </a:r>
          </a:p>
          <a:p>
            <a:endParaRPr lang="en-US" dirty="0"/>
          </a:p>
          <a:p>
            <a:r>
              <a:rPr lang="en-US" dirty="0"/>
              <a:t>[[4. 4. 4. 4.]</a:t>
            </a:r>
          </a:p>
          <a:p>
            <a:r>
              <a:rPr lang="en-US" dirty="0"/>
              <a:t> [3. 3. 3. 3.]</a:t>
            </a:r>
          </a:p>
          <a:p>
            <a:r>
              <a:rPr lang="en-US" dirty="0"/>
              <a:t> [0. 0. 0. 0.]</a:t>
            </a:r>
          </a:p>
          <a:p>
            <a:r>
              <a:rPr lang="en-US" dirty="0"/>
              <a:t> [6. 6. 6. 6.]]</a:t>
            </a:r>
          </a:p>
          <a:p>
            <a:endParaRPr lang="en-US" dirty="0"/>
          </a:p>
          <a:p>
            <a:r>
              <a:rPr lang="en-US" dirty="0"/>
              <a:t>[[5. 5. 5. 5.]</a:t>
            </a:r>
          </a:p>
          <a:p>
            <a:r>
              <a:rPr lang="en-US" dirty="0"/>
              <a:t> [3. 3. 3. 3.]]</a:t>
            </a:r>
          </a:p>
        </p:txBody>
      </p:sp>
    </p:spTree>
    <p:extLst>
      <p:ext uri="{BB962C8B-B14F-4D97-AF65-F5344CB8AC3E}">
        <p14:creationId xmlns:p14="http://schemas.microsoft.com/office/powerpoint/2010/main" val="12468701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5084" y="6524444"/>
            <a:ext cx="169905" cy="8590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531" y="6510528"/>
            <a:ext cx="2044445" cy="1607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7892" y="6533388"/>
            <a:ext cx="1677161" cy="10439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22275"/>
            <a:ext cx="2976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1.4.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NumPy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Indexing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Slicing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12530" y="456056"/>
            <a:ext cx="668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Calibri"/>
                <a:cs typeface="Calibri"/>
              </a:rPr>
              <a:t>UNIT</a:t>
            </a:r>
            <a:r>
              <a:rPr sz="1600" spc="-4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600" b="1" spc="-114" dirty="0">
                <a:solidFill>
                  <a:srgbClr val="D9D9D9"/>
                </a:solidFill>
                <a:latin typeface="Arial"/>
                <a:cs typeface="Arial"/>
              </a:rPr>
              <a:t>01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6072" y="1424939"/>
            <a:ext cx="1280922" cy="19583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0851" y="1764792"/>
            <a:ext cx="8222742" cy="331470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556133" y="2259964"/>
            <a:ext cx="8787765" cy="1746885"/>
            <a:chOff x="556133" y="2259964"/>
            <a:chExt cx="8787765" cy="1746885"/>
          </a:xfrm>
        </p:grpSpPr>
        <p:sp>
          <p:nvSpPr>
            <p:cNvPr id="10" name="object 10"/>
            <p:cNvSpPr/>
            <p:nvPr/>
          </p:nvSpPr>
          <p:spPr>
            <a:xfrm>
              <a:off x="559308" y="2263139"/>
              <a:ext cx="8781415" cy="1740535"/>
            </a:xfrm>
            <a:custGeom>
              <a:avLst/>
              <a:gdLst/>
              <a:ahLst/>
              <a:cxnLst/>
              <a:rect l="l" t="t" r="r" b="b"/>
              <a:pathLst>
                <a:path w="8781415" h="1740535">
                  <a:moveTo>
                    <a:pt x="0" y="1740407"/>
                  </a:moveTo>
                  <a:lnTo>
                    <a:pt x="8781288" y="1740407"/>
                  </a:lnTo>
                  <a:lnTo>
                    <a:pt x="8781288" y="0"/>
                  </a:lnTo>
                  <a:lnTo>
                    <a:pt x="0" y="0"/>
                  </a:lnTo>
                  <a:lnTo>
                    <a:pt x="0" y="1740407"/>
                  </a:lnTo>
                  <a:close/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7991" y="2368363"/>
              <a:ext cx="8533829" cy="148022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6E2A75-2997-7DF8-EA6C-BABBFF10ECE5}"/>
              </a:ext>
            </a:extLst>
          </p:cNvPr>
          <p:cNvSpPr txBox="1"/>
          <p:nvPr/>
        </p:nvSpPr>
        <p:spPr>
          <a:xfrm>
            <a:off x="762000" y="1676400"/>
            <a:ext cx="495582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endParaRPr lang="en-US" dirty="0"/>
          </a:p>
          <a:p>
            <a:r>
              <a:rPr lang="en-US" dirty="0"/>
              <a:t># Create an array with values from 0 to 19</a:t>
            </a:r>
          </a:p>
          <a:p>
            <a:r>
              <a:rPr lang="en-US" dirty="0"/>
              <a:t>arr2 = </a:t>
            </a:r>
            <a:r>
              <a:rPr lang="en-US" dirty="0" err="1"/>
              <a:t>np.arange</a:t>
            </a:r>
            <a:r>
              <a:rPr lang="en-US" dirty="0"/>
              <a:t>(20)</a:t>
            </a:r>
          </a:p>
          <a:p>
            <a:endParaRPr lang="en-US" dirty="0"/>
          </a:p>
          <a:p>
            <a:r>
              <a:rPr lang="en-US" dirty="0"/>
              <a:t># Create a Boolean mask for multiples of 5</a:t>
            </a:r>
          </a:p>
          <a:p>
            <a:r>
              <a:rPr lang="en-US" dirty="0" err="1"/>
              <a:t>arrMask</a:t>
            </a:r>
            <a:r>
              <a:rPr lang="en-US" dirty="0"/>
              <a:t> = (arr2 % 5 == 0)</a:t>
            </a:r>
          </a:p>
          <a:p>
            <a:endParaRPr lang="en-US" dirty="0"/>
          </a:p>
          <a:p>
            <a:r>
              <a:rPr lang="en-US" dirty="0"/>
              <a:t># Select only the elements where the mask is True</a:t>
            </a:r>
          </a:p>
          <a:p>
            <a:r>
              <a:rPr lang="en-US" dirty="0"/>
              <a:t>print(arr2[</a:t>
            </a:r>
            <a:r>
              <a:rPr lang="en-US" dirty="0" err="1"/>
              <a:t>arrMask</a:t>
            </a:r>
            <a:r>
              <a:rPr lang="en-US" dirty="0"/>
              <a:t>])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50DEE3-BDAB-E50E-B449-AC8AA7DC9791}"/>
              </a:ext>
            </a:extLst>
          </p:cNvPr>
          <p:cNvSpPr txBox="1"/>
          <p:nvPr/>
        </p:nvSpPr>
        <p:spPr>
          <a:xfrm>
            <a:off x="5943600" y="2782669"/>
            <a:ext cx="49558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[ 0  5 10 15]</a:t>
            </a:r>
          </a:p>
        </p:txBody>
      </p:sp>
    </p:spTree>
    <p:extLst>
      <p:ext uri="{BB962C8B-B14F-4D97-AF65-F5344CB8AC3E}">
        <p14:creationId xmlns:p14="http://schemas.microsoft.com/office/powerpoint/2010/main" val="31052023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8215" y="6524444"/>
            <a:ext cx="168299" cy="8590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531" y="6510528"/>
            <a:ext cx="2044445" cy="1607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7892" y="6533388"/>
            <a:ext cx="1677161" cy="10439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22275"/>
            <a:ext cx="2976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1.4.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NumPy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Indexing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Slicing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12530" y="456056"/>
            <a:ext cx="668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Calibri"/>
                <a:cs typeface="Calibri"/>
              </a:rPr>
              <a:t>UNIT</a:t>
            </a:r>
            <a:r>
              <a:rPr sz="1600" spc="-4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600" b="1" spc="-114" dirty="0">
                <a:solidFill>
                  <a:srgbClr val="D9D9D9"/>
                </a:solidFill>
                <a:latin typeface="Arial"/>
                <a:cs typeface="Arial"/>
              </a:rPr>
              <a:t>01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56133" y="2057273"/>
            <a:ext cx="8787765" cy="2320290"/>
            <a:chOff x="556133" y="2057273"/>
            <a:chExt cx="8787765" cy="2320290"/>
          </a:xfrm>
        </p:grpSpPr>
        <p:sp>
          <p:nvSpPr>
            <p:cNvPr id="8" name="object 8"/>
            <p:cNvSpPr/>
            <p:nvPr/>
          </p:nvSpPr>
          <p:spPr>
            <a:xfrm>
              <a:off x="559308" y="2060448"/>
              <a:ext cx="8781415" cy="2313940"/>
            </a:xfrm>
            <a:custGeom>
              <a:avLst/>
              <a:gdLst/>
              <a:ahLst/>
              <a:cxnLst/>
              <a:rect l="l" t="t" r="r" b="b"/>
              <a:pathLst>
                <a:path w="8781415" h="2313940">
                  <a:moveTo>
                    <a:pt x="0" y="2313432"/>
                  </a:moveTo>
                  <a:lnTo>
                    <a:pt x="8781288" y="2313432"/>
                  </a:lnTo>
                  <a:lnTo>
                    <a:pt x="8781288" y="0"/>
                  </a:lnTo>
                  <a:lnTo>
                    <a:pt x="0" y="0"/>
                  </a:lnTo>
                  <a:lnTo>
                    <a:pt x="0" y="2313432"/>
                  </a:lnTo>
                  <a:close/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5030" y="2131085"/>
              <a:ext cx="8583038" cy="2184273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89888" y="4652771"/>
            <a:ext cx="7267956" cy="97231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6072" y="1424939"/>
            <a:ext cx="1280922" cy="19583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0851" y="1766316"/>
            <a:ext cx="3960114" cy="165353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FB55E3-25B2-D49A-4DB1-CBB0CCB43A25}"/>
              </a:ext>
            </a:extLst>
          </p:cNvPr>
          <p:cNvSpPr txBox="1"/>
          <p:nvPr/>
        </p:nvSpPr>
        <p:spPr>
          <a:xfrm>
            <a:off x="914400" y="1143000"/>
            <a:ext cx="84582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import </a:t>
            </a:r>
            <a:r>
              <a:rPr lang="en-US" dirty="0" err="1">
                <a:latin typeface="Courier New" panose="02070309020205020404" pitchFamily="49" charset="0"/>
              </a:rPr>
              <a:t>numpy</a:t>
            </a:r>
            <a:r>
              <a:rPr lang="en-US" dirty="0">
                <a:latin typeface="Courier New" panose="02070309020205020404" pitchFamily="49" charset="0"/>
              </a:rPr>
              <a:t> as np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# Create an array from 0 to 19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arr2 = </a:t>
            </a:r>
            <a:r>
              <a:rPr lang="en-US" dirty="0" err="1">
                <a:latin typeface="Courier New" panose="02070309020205020404" pitchFamily="49" charset="0"/>
              </a:rPr>
              <a:t>np.arange</a:t>
            </a:r>
            <a:r>
              <a:rPr lang="en-US" dirty="0">
                <a:latin typeface="Courier New" panose="02070309020205020404" pitchFamily="49" charset="0"/>
              </a:rPr>
              <a:t>(20)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# Condition 1: Multiples of 5</a:t>
            </a:r>
          </a:p>
          <a:p>
            <a:pPr rtl="0">
              <a:buNone/>
            </a:pPr>
            <a:r>
              <a:rPr lang="en-US" dirty="0" err="1">
                <a:latin typeface="Courier New" panose="02070309020205020404" pitchFamily="49" charset="0"/>
              </a:rPr>
              <a:t>arrMask</a:t>
            </a:r>
            <a:r>
              <a:rPr lang="en-US" dirty="0">
                <a:latin typeface="Courier New" panose="02070309020205020404" pitchFamily="49" charset="0"/>
              </a:rPr>
              <a:t> = (arr2 % 5 == 0)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# Condition 2: Numbers greater than or equal to 10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arrMask2 = (arr2 &gt;= 10)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# Combine both conditions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print(arr2[</a:t>
            </a:r>
            <a:r>
              <a:rPr lang="en-US" dirty="0" err="1">
                <a:latin typeface="Courier New" panose="02070309020205020404" pitchFamily="49" charset="0"/>
              </a:rPr>
              <a:t>arrMask</a:t>
            </a:r>
            <a:r>
              <a:rPr lang="en-US" dirty="0">
                <a:latin typeface="Courier New" panose="02070309020205020404" pitchFamily="49" charset="0"/>
              </a:rPr>
              <a:t> &amp; arrMask2])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[10 15]</a:t>
            </a:r>
          </a:p>
        </p:txBody>
      </p:sp>
    </p:spTree>
    <p:extLst>
      <p:ext uri="{BB962C8B-B14F-4D97-AF65-F5344CB8AC3E}">
        <p14:creationId xmlns:p14="http://schemas.microsoft.com/office/powerpoint/2010/main" val="40253810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0511" y="6524444"/>
            <a:ext cx="174478" cy="8590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531" y="6510528"/>
            <a:ext cx="2044445" cy="1607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7892" y="6533388"/>
            <a:ext cx="1677161" cy="10439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22275"/>
            <a:ext cx="2976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1.4.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NumPy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Indexing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Slicing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12530" y="456056"/>
            <a:ext cx="668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D9D9D9"/>
                </a:solidFill>
                <a:latin typeface="Calibri"/>
                <a:cs typeface="Calibri"/>
              </a:rPr>
              <a:t>UNIT</a:t>
            </a:r>
            <a:r>
              <a:rPr sz="1600" spc="-4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600" b="1" spc="-114" dirty="0">
                <a:solidFill>
                  <a:srgbClr val="D9D9D9"/>
                </a:solidFill>
                <a:latin typeface="Arial"/>
                <a:cs typeface="Arial"/>
              </a:rPr>
              <a:t>01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0163" y="1559039"/>
            <a:ext cx="3361182" cy="339102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552958" y="2054098"/>
            <a:ext cx="8803005" cy="3973829"/>
            <a:chOff x="552958" y="2054098"/>
            <a:chExt cx="8803005" cy="3973829"/>
          </a:xfrm>
        </p:grpSpPr>
        <p:sp>
          <p:nvSpPr>
            <p:cNvPr id="9" name="object 9"/>
            <p:cNvSpPr/>
            <p:nvPr/>
          </p:nvSpPr>
          <p:spPr>
            <a:xfrm>
              <a:off x="559308" y="2060447"/>
              <a:ext cx="8784590" cy="3961129"/>
            </a:xfrm>
            <a:custGeom>
              <a:avLst/>
              <a:gdLst/>
              <a:ahLst/>
              <a:cxnLst/>
              <a:rect l="l" t="t" r="r" b="b"/>
              <a:pathLst>
                <a:path w="8784590" h="3961129">
                  <a:moveTo>
                    <a:pt x="8784323" y="2461260"/>
                  </a:moveTo>
                  <a:lnTo>
                    <a:pt x="0" y="2461260"/>
                  </a:lnTo>
                  <a:lnTo>
                    <a:pt x="0" y="3960876"/>
                  </a:lnTo>
                  <a:lnTo>
                    <a:pt x="8784323" y="3960876"/>
                  </a:lnTo>
                  <a:lnTo>
                    <a:pt x="8784323" y="2461260"/>
                  </a:lnTo>
                  <a:close/>
                </a:path>
                <a:path w="8784590" h="3961129">
                  <a:moveTo>
                    <a:pt x="8784323" y="0"/>
                  </a:moveTo>
                  <a:lnTo>
                    <a:pt x="0" y="0"/>
                  </a:lnTo>
                  <a:lnTo>
                    <a:pt x="0" y="1885188"/>
                  </a:lnTo>
                  <a:lnTo>
                    <a:pt x="8784323" y="1885188"/>
                  </a:lnTo>
                  <a:lnTo>
                    <a:pt x="8784323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59308" y="2060448"/>
              <a:ext cx="8784590" cy="3961129"/>
            </a:xfrm>
            <a:custGeom>
              <a:avLst/>
              <a:gdLst/>
              <a:ahLst/>
              <a:cxnLst/>
              <a:rect l="l" t="t" r="r" b="b"/>
              <a:pathLst>
                <a:path w="8784590" h="3961129">
                  <a:moveTo>
                    <a:pt x="0" y="3960876"/>
                  </a:moveTo>
                  <a:lnTo>
                    <a:pt x="8784336" y="3960876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3960876"/>
                  </a:lnTo>
                  <a:close/>
                </a:path>
              </a:pathLst>
            </a:custGeom>
            <a:ln w="12699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59308" y="3945636"/>
              <a:ext cx="8796655" cy="576580"/>
            </a:xfrm>
            <a:custGeom>
              <a:avLst/>
              <a:gdLst/>
              <a:ahLst/>
              <a:cxnLst/>
              <a:rect l="l" t="t" r="r" b="b"/>
              <a:pathLst>
                <a:path w="8796655" h="576579">
                  <a:moveTo>
                    <a:pt x="8796528" y="0"/>
                  </a:moveTo>
                  <a:lnTo>
                    <a:pt x="0" y="0"/>
                  </a:lnTo>
                  <a:lnTo>
                    <a:pt x="0" y="576071"/>
                  </a:lnTo>
                  <a:lnTo>
                    <a:pt x="8796528" y="576071"/>
                  </a:lnTo>
                  <a:lnTo>
                    <a:pt x="8796528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79547" y="4119346"/>
              <a:ext cx="4964430" cy="255295"/>
            </a:xfrm>
            <a:prstGeom prst="rect">
              <a:avLst/>
            </a:prstGeom>
          </p:spPr>
        </p:pic>
        <p:pic>
          <p:nvPicPr>
            <p:cNvPr id="13" name="object 13" descr="텍스트, 클립아트이(가) 표시된 사진  자동 생성된 설명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70831" y="2647188"/>
              <a:ext cx="1161288" cy="117500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1190</TotalTime>
  <Words>2462</Words>
  <Application>Microsoft Office PowerPoint</Application>
  <PresentationFormat>A4 Paper (210x297 mm)</PresentationFormat>
  <Paragraphs>577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6" baseType="lpstr">
      <vt:lpstr>Aptos</vt:lpstr>
      <vt:lpstr>Arial</vt:lpstr>
      <vt:lpstr>Arial MT</vt:lpstr>
      <vt:lpstr>Calibri</vt:lpstr>
      <vt:lpstr>Courier New</vt:lpstr>
      <vt:lpstr>Times New Roman</vt:lpstr>
      <vt:lpstr>Trebuchet MS</vt:lpstr>
      <vt:lpstr>Office Theme</vt:lpstr>
      <vt:lpstr>Revision History</vt:lpstr>
      <vt:lpstr>Revision History</vt:lpstr>
      <vt:lpstr>PowerPoint Presentation</vt:lpstr>
      <vt:lpstr>PowerPoint Presentation</vt:lpstr>
      <vt:lpstr>Chapter Description</vt:lpstr>
      <vt:lpstr>PowerPoint Presentation</vt:lpstr>
      <vt:lpstr>PowerPoint Presentation</vt:lpstr>
      <vt:lpstr>PowerPoint Presentation</vt:lpstr>
      <vt:lpstr>PowerPoint Presentation</vt:lpstr>
      <vt:lpstr>1.4. NumPy Indexing and Slicing</vt:lpstr>
      <vt:lpstr>PowerPoint Presentation</vt:lpstr>
      <vt:lpstr>PowerPoint Presentation</vt:lpstr>
      <vt:lpstr>PowerPoint Presentation</vt:lpstr>
      <vt:lpstr>1.4. NumPy Indexing and Slicing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1.4. NumPy Indexing and Slicing</vt:lpstr>
      <vt:lpstr>PowerPoint Presentation</vt:lpstr>
      <vt:lpstr>1.4. NumPy Indexing and Slicing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1.4. NumPy Indexing and Slicing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Akil Wani/Smart Infra Group /SRI-Bangalore/Associate/Samsung Electronics</dc:creator>
  <cp:lastModifiedBy>Nisha Robin Rohit</cp:lastModifiedBy>
  <cp:revision>32</cp:revision>
  <dcterms:created xsi:type="dcterms:W3CDTF">2026-07-28T06:40:00Z</dcterms:created>
  <dcterms:modified xsi:type="dcterms:W3CDTF">2026-08-06T18:20:38Z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2026-04-21T00:00:00Z</vt:filetime>
  </property>
  <property fmtid="{D5CDD505-2E9C-101B-9397-08002B2CF9AE}" pid="4" name="Creator">
    <vt:lpwstr>Microsoft® PowerPoint® LTSC</vt:lpwstr>
  </property>
  <property fmtid="{D5CDD505-2E9C-101B-9397-08002B2CF9AE}" pid="5" name="LastSaved">
    <vt:filetime>2026-07-28T00:00:00Z</vt:filetime>
  </property>
  <property fmtid="{D5CDD505-2E9C-101B-9397-08002B2CF9AE}" pid="6" name="Producer">
    <vt:lpwstr>Microsoft® PowerPoint® LTSC</vt:lpwstr>
  </property>
</Properties>
</file>